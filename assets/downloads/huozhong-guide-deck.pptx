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56" r:id="rId3"/>
    <p:sldId id="301" r:id="rId5"/>
    <p:sldId id="276" r:id="rId6"/>
    <p:sldId id="373" r:id="rId7"/>
    <p:sldId id="374" r:id="rId8"/>
    <p:sldId id="358" r:id="rId9"/>
    <p:sldId id="330" r:id="rId10"/>
    <p:sldId id="399" r:id="rId11"/>
    <p:sldId id="350" r:id="rId12"/>
    <p:sldId id="397" r:id="rId13"/>
    <p:sldId id="327" r:id="rId14"/>
    <p:sldId id="398" r:id="rId15"/>
    <p:sldId id="388" r:id="rId16"/>
    <p:sldId id="280" r:id="rId17"/>
    <p:sldId id="389" r:id="rId18"/>
    <p:sldId id="378" r:id="rId19"/>
    <p:sldId id="379" r:id="rId20"/>
    <p:sldId id="390" r:id="rId21"/>
    <p:sldId id="391" r:id="rId22"/>
    <p:sldId id="382" r:id="rId23"/>
    <p:sldId id="383" r:id="rId24"/>
    <p:sldId id="384" r:id="rId25"/>
    <p:sldId id="385" r:id="rId26"/>
    <p:sldId id="393" r:id="rId27"/>
    <p:sldId id="400" r:id="rId28"/>
  </p:sldIdLst>
  <p:sldSz cx="12188825" cy="6858000"/>
  <p:notesSz cx="6858000" cy="9144000"/>
  <p:defaultTextStyle>
    <a:defPPr rtl="0"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7800"/>
    <a:srgbClr val="FFC000"/>
    <a:srgbClr val="E40011"/>
    <a:srgbClr val="E20111"/>
    <a:srgbClr val="EB8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93817" autoAdjust="0"/>
  </p:normalViewPr>
  <p:slideViewPr>
    <p:cSldViewPr showGuides="1">
      <p:cViewPr varScale="1">
        <p:scale>
          <a:sx n="66" d="100"/>
          <a:sy n="66" d="100"/>
        </p:scale>
        <p:origin x="42" y="297"/>
      </p:cViewPr>
      <p:guideLst>
        <p:guide pos="3839"/>
        <p:guide orient="horz" pos="22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552"/>
    </p:cViewPr>
  </p:sorterViewPr>
  <p:notesViewPr>
    <p:cSldViewPr showGuides="1">
      <p:cViewPr varScale="1">
        <p:scale>
          <a:sx n="87" d="100"/>
          <a:sy n="87" d="100"/>
        </p:scale>
        <p:origin x="384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20B349-F2EE-40B7-9A96-7F76E2326DFA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79AF599-AE6F-4E1C-94D1-C707F302C5B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1F2A70B-78F2-4DCF-B53B-C990D2FAFB8A}" type="slidenum">
              <a:rPr lang="en-US" altLang="zh-CN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413" y="1628800"/>
            <a:ext cx="9144000" cy="2667000"/>
          </a:xfrm>
        </p:spPr>
        <p:txBody>
          <a:bodyPr rtlCol="0">
            <a:noAutofit/>
          </a:bodyPr>
          <a:lstStyle>
            <a:lvl1pPr>
              <a:defRPr sz="5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grpSp>
        <p:nvGrpSpPr>
          <p:cNvPr id="256" name="线条" descr="线条图形"/>
          <p:cNvGrpSpPr/>
          <p:nvPr/>
        </p:nvGrpSpPr>
        <p:grpSpPr bwMode="invGray">
          <a:xfrm>
            <a:off x="1584896" y="4365104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任意多边形 5"/>
            <p:cNvSpPr/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8" name="任意多边形 6"/>
            <p:cNvSpPr/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9" name="任意多边形 7"/>
            <p:cNvSpPr/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0" name="任意多边形 8"/>
            <p:cNvSpPr/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1" name="任意多边形 9"/>
            <p:cNvSpPr/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2" name="任意多边形 10"/>
            <p:cNvSpPr/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3" name="任意多边形 11"/>
            <p:cNvSpPr/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4" name="任意多边形 12"/>
            <p:cNvSpPr/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5" name="任意多边形 13"/>
            <p:cNvSpPr/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6" name="任意多边形 14"/>
            <p:cNvSpPr/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7" name="任意多边形 15"/>
            <p:cNvSpPr/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8" name="任意多边形 16"/>
            <p:cNvSpPr/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9" name="任意多边形 17"/>
            <p:cNvSpPr/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0" name="任意多边形 18"/>
            <p:cNvSpPr/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1" name="任意多边形 19"/>
            <p:cNvSpPr/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2" name="任意多边形 20"/>
            <p:cNvSpPr/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3" name="任意多边形 21"/>
            <p:cNvSpPr/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4" name="任意多边形 22"/>
            <p:cNvSpPr/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5" name="任意多边形 23"/>
            <p:cNvSpPr/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6" name="任意多边形 24"/>
            <p:cNvSpPr/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7" name="任意多边形 25"/>
            <p:cNvSpPr/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8" name="任意多边形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9" name="任意多边形 27"/>
            <p:cNvSpPr/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0" name="任意多边形 28"/>
            <p:cNvSpPr/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1" name="任意多边形 29"/>
            <p:cNvSpPr/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2" name="任意多边形 30"/>
            <p:cNvSpPr/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3" name="任意多边形 31"/>
            <p:cNvSpPr/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4" name="任意多边形 32"/>
            <p:cNvSpPr/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5" name="任意多边形 33"/>
            <p:cNvSpPr/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6" name="任意多边形 34"/>
            <p:cNvSpPr/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7" name="任意多边形 35"/>
            <p:cNvSpPr/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8" name="任意多边形 36"/>
            <p:cNvSpPr/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9" name="任意多边形 37"/>
            <p:cNvSpPr/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0" name="任意多边形 38"/>
            <p:cNvSpPr/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1" name="任意多边形 39"/>
            <p:cNvSpPr/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2" name="任意多边形 40"/>
            <p:cNvSpPr/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3" name="任意多边形 41"/>
            <p:cNvSpPr/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4" name="任意多边形 42"/>
            <p:cNvSpPr/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5" name="任意多边形 43"/>
            <p:cNvSpPr/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6" name="任意多边形 44"/>
            <p:cNvSpPr/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7" name="任意多边形 45"/>
            <p:cNvSpPr/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8" name="任意多边形 46"/>
            <p:cNvSpPr/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9" name="任意多边形 47"/>
            <p:cNvSpPr/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0" name="任意多边形 48"/>
            <p:cNvSpPr/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1" name="任意多边形 49"/>
            <p:cNvSpPr/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2" name="任意多边形 50"/>
            <p:cNvSpPr/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3" name="任意多边形 51"/>
            <p:cNvSpPr/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4" name="任意多边形 52"/>
            <p:cNvSpPr/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5" name="任意多边形 53"/>
            <p:cNvSpPr/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6" name="任意多边形 54"/>
            <p:cNvSpPr/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7" name="任意多边形 55"/>
            <p:cNvSpPr/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8" name="任意多边形 56"/>
            <p:cNvSpPr/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9" name="任意多边形 57"/>
            <p:cNvSpPr/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0" name="任意多边形 58"/>
            <p:cNvSpPr/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1" name="任意多边形 59"/>
            <p:cNvSpPr/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2" name="任意多边形 60"/>
            <p:cNvSpPr/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3" name="任意多边形 61"/>
            <p:cNvSpPr/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4" name="任意多边形 62"/>
            <p:cNvSpPr/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5" name="任意多边形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6" name="任意多边形 64"/>
            <p:cNvSpPr/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7" name="任意多边形 65"/>
            <p:cNvSpPr/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8" name="任意多边形 66"/>
            <p:cNvSpPr/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9" name="任意多边形 67"/>
            <p:cNvSpPr/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0" name="任意多边形 68"/>
            <p:cNvSpPr/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1" name="任意多边形 69"/>
            <p:cNvSpPr/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2" name="任意多边形 70"/>
            <p:cNvSpPr/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3" name="任意多边形 71"/>
            <p:cNvSpPr/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4" name="任意多边形 72"/>
            <p:cNvSpPr/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5" name="任意多边形 73"/>
            <p:cNvSpPr/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6" name="任意多边形 74"/>
            <p:cNvSpPr/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7" name="任意多边形 75"/>
            <p:cNvSpPr/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8" name="任意多边形 76"/>
            <p:cNvSpPr/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9" name="任意多边形 77"/>
            <p:cNvSpPr/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0" name="任意多边形 78"/>
            <p:cNvSpPr/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1" name="任意多边形 79"/>
            <p:cNvSpPr/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2" name="任意多边形 80"/>
            <p:cNvSpPr/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3" name="任意多边形 81"/>
            <p:cNvSpPr/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4" name="任意多边形 82"/>
            <p:cNvSpPr/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5" name="任意多边形 83"/>
            <p:cNvSpPr/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6" name="任意多边形 84"/>
            <p:cNvSpPr/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7" name="任意多边形 85"/>
            <p:cNvSpPr/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8" name="任意多边形 86"/>
            <p:cNvSpPr/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9" name="任意多边形 87"/>
            <p:cNvSpPr/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0" name="任意多边形 88"/>
            <p:cNvSpPr/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1" name="任意多边形 89"/>
            <p:cNvSpPr/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2" name="任意多边形 90"/>
            <p:cNvSpPr/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3" name="任意多边形 91"/>
            <p:cNvSpPr/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4" name="任意多边形 92"/>
            <p:cNvSpPr/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5" name="任意多边形 93"/>
            <p:cNvSpPr/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6" name="任意多边形 94"/>
            <p:cNvSpPr/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7" name="任意多边形 95"/>
            <p:cNvSpPr/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8" name="任意多边形 96"/>
            <p:cNvSpPr/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9" name="任意多边形 97"/>
            <p:cNvSpPr/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0" name="任意多边形 98"/>
            <p:cNvSpPr/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1" name="任意多边形 99"/>
            <p:cNvSpPr/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2" name="任意多边形 100"/>
            <p:cNvSpPr/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3" name="任意多边形 101"/>
            <p:cNvSpPr/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4" name="任意多边形 102"/>
            <p:cNvSpPr/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5" name="任意多边形 103"/>
            <p:cNvSpPr/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6" name="任意多边形 104"/>
            <p:cNvSpPr/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7" name="任意多边形 105"/>
            <p:cNvSpPr/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8" name="任意多边形 106"/>
            <p:cNvSpPr/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9" name="任意多边形 107"/>
            <p:cNvSpPr/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0" name="任意多边形 108"/>
            <p:cNvSpPr/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1" name="任意多边形 109"/>
            <p:cNvSpPr/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2" name="任意多边形 110"/>
            <p:cNvSpPr/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3" name="任意多边形 111"/>
            <p:cNvSpPr/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4" name="任意多边形 112"/>
            <p:cNvSpPr/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5" name="任意多边形 113"/>
            <p:cNvSpPr/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6" name="任意多边形 114"/>
            <p:cNvSpPr/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7" name="任意多边形 115"/>
            <p:cNvSpPr/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8" name="任意多边形 116"/>
            <p:cNvSpPr/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9" name="任意多边形 117"/>
            <p:cNvSpPr/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0" name="任意多边形 118"/>
            <p:cNvSpPr/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1" name="任意多边形 119"/>
            <p:cNvSpPr/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2" name="任意多边形 120"/>
            <p:cNvSpPr/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3" name="任意多边形 121"/>
            <p:cNvSpPr/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4" name="任意多边形 122"/>
            <p:cNvSpPr/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5" name="任意多边形 123"/>
            <p:cNvSpPr/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6" name="任意多边形 124"/>
            <p:cNvSpPr/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7" name="任意多边形 125"/>
            <p:cNvSpPr/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8" name="任意多边形 126"/>
            <p:cNvSpPr/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9" name="任意多边形 127"/>
            <p:cNvSpPr/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2413" y="4653136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grpSp>
        <p:nvGrpSpPr>
          <p:cNvPr id="167" name="线条" descr="线条图形"/>
          <p:cNvGrpSpPr/>
          <p:nvPr/>
        </p:nvGrpSpPr>
        <p:grpSpPr bwMode="invGray">
          <a:xfrm>
            <a:off x="1522413" y="1484784"/>
            <a:ext cx="9612559" cy="93699"/>
            <a:chOff x="1522413" y="1514475"/>
            <a:chExt cx="10569575" cy="64008"/>
          </a:xfrm>
        </p:grpSpPr>
        <p:sp>
          <p:nvSpPr>
            <p:cNvPr id="168" name="任意多边形 1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9" name="任意多边形 1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0" name="任意多边形 1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1" name="任意多边形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2" name="任意多边形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3" name="任意多边形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4" name="任意多边形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5" name="任意多边形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6" name="任意多边形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7" name="任意多边形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8" name="任意多边形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9" name="任意多边形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0" name="任意多边形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1" name="任意多边形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2" name="任意多边形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3" name="任意多边形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4" name="任意多边形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5" name="任意多边形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6" name="任意多边形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7" name="任意多边形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8" name="任意多边形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9" name="任意多边形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0" name="任意多边形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1" name="任意多边形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2" name="任意多边形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3" name="任意多边形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4" name="任意多边形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5" name="任意多边形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6" name="任意多边形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7" name="任意多边形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8" name="任意多边形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9" name="任意多边形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0" name="任意多边形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1" name="任意多边形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2" name="任意多边形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3" name="任意多边形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4" name="任意多边形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5" name="任意多边形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6" name="任意多边形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7" name="任意多边形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8" name="任意多边形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9" name="任意多边形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0" name="任意多边形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1" name="任意多边形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2" name="任意多边形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3" name="任意多边形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4" name="任意多边形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5" name="任意多边形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6" name="任意多边形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7" name="任意多边形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8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9" name="任意多边形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0" name="任意多边形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1" name="任意多边形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2" name="任意多边形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3" name="任意多边形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4" name="任意多边形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5" name="任意多边形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6" name="任意多边形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7" name="任意多边形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8" name="任意多边形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9" name="任意多边形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0" name="任意多边形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1" name="任意多边形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2" name="任意多边形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3" name="任意多边形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4" name="任意多边形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5" name="任意多边形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6" name="任意多边形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7" name="任意多边形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8" name="任意多边形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9" name="任意多边形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0" name="任意多边形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1" name="任意多边形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54864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77724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00584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23444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2F3F8A6-BA63-2D48-90E3-80C826F25B0C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 132"/>
          <p:cNvSpPr/>
          <p:nvPr userDrawn="1"/>
        </p:nvSpPr>
        <p:spPr>
          <a:xfrm>
            <a:off x="-1" y="893"/>
            <a:ext cx="12188825" cy="6856214"/>
          </a:xfrm>
          <a:prstGeom prst="rect">
            <a:avLst/>
          </a:prstGeom>
          <a:noFill/>
          <a:ln w="1016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grpSp>
        <p:nvGrpSpPr>
          <p:cNvPr id="158" name="线条" descr="线条图形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任意多边形 1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0" name="任意多边形 1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1" name="任意多边形 1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2" name="任意多边形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3" name="任意多边形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4" name="任意多边形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5" name="任意多边形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6" name="任意多边形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7" name="任意多边形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8" name="任意多边形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9" name="任意多边形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0" name="任意多边形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1" name="任意多边形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2" name="任意多边形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3" name="任意多边形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4" name="任意多边形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5" name="任意多边形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6" name="任意多边形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7" name="任意多边形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8" name="任意多边形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9" name="任意多边形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0" name="任意多边形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1" name="任意多边形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2" name="任意多边形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3" name="任意多边形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4" name="任意多边形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5" name="任意多边形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6" name="任意多边形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7" name="任意多边形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8" name="任意多边形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9" name="任意多边形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0" name="任意多边形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1" name="任意多边形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2" name="任意多边形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3" name="任意多边形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4" name="任意多边形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5" name="任意多边形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6" name="任意多边形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7" name="任意多边形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8" name="任意多边形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9" name="任意多边形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0" name="任意多边形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1" name="任意多边形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2" name="任意多边形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3" name="任意多边形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4" name="任意多边形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5" name="任意多边形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6" name="任意多边形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7" name="任意多边形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8" name="任意多边形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9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0" name="任意多边形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1" name="任意多边形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2" name="任意多边形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3" name="任意多边形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4" name="任意多边形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5" name="任意多边形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6" name="任意多边形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7" name="任意多边形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8" name="任意多边形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9" name="任意多边形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0" name="任意多边形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1" name="任意多边形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2" name="任意多边形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3" name="任意多边形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4" name="任意多边形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5" name="任意多边形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6" name="任意多边形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7" name="任意多边形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8" name="任意多边形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9" name="任意多边形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0" name="任意多边形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1" name="任意多边形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2" name="任意多边形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7070">
              <a:defRPr sz="1600"/>
            </a:lvl6pPr>
            <a:lvl7pPr marL="1957070">
              <a:defRPr sz="1600" baseline="0"/>
            </a:lvl7pPr>
            <a:lvl8pPr marL="1957070">
              <a:defRPr sz="1600" baseline="0"/>
            </a:lvl8pPr>
            <a:lvl9pPr marL="1957070">
              <a:defRPr sz="1600" baseline="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7070">
              <a:defRPr sz="1600"/>
            </a:lvl6pPr>
            <a:lvl7pPr marL="1957070">
              <a:defRPr sz="1600"/>
            </a:lvl7pPr>
            <a:lvl8pPr marL="1957070">
              <a:defRPr sz="1600" baseline="0"/>
            </a:lvl8pPr>
            <a:lvl9pPr marL="1957070">
              <a:defRPr sz="1600" baseline="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A1A14BD-C970-6844-B163-0C00FE69539C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grpSp>
        <p:nvGrpSpPr>
          <p:cNvPr id="160" name="线条" descr="线条图形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任意多边形 16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2" name="任意多边形 16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3" name="任意多边形 16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4" name="任意多边形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5" name="任意多边形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6" name="任意多边形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7" name="任意多边形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8" name="任意多边形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9" name="任意多边形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0" name="任意多边形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1" name="任意多边形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2" name="任意多边形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3" name="任意多边形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4" name="任意多边形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5" name="任意多边形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6" name="任意多边形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7" name="任意多边形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8" name="任意多边形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9" name="任意多边形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0" name="任意多边形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1" name="任意多边形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2" name="任意多边形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3" name="任意多边形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4" name="任意多边形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5" name="任意多边形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6" name="任意多边形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7" name="任意多边形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8" name="任意多边形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9" name="任意多边形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0" name="任意多边形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1" name="任意多边形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2" name="任意多边形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3" name="任意多边形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4" name="任意多边形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5" name="任意多边形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6" name="任意多边形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7" name="任意多边形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8" name="任意多边形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9" name="任意多边形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0" name="任意多边形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1" name="任意多边形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2" name="任意多边形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3" name="任意多边形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4" name="任意多边形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5" name="任意多边形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6" name="任意多边形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7" name="任意多边形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8" name="任意多边形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9" name="任意多边形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0" name="任意多边形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1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2" name="任意多边形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3" name="任意多边形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4" name="任意多边形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5" name="任意多边形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6" name="任意多边形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7" name="任意多边形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8" name="任意多边形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9" name="任意多边形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0" name="任意多边形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1" name="任意多边形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2" name="任意多边形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3" name="任意多边形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4" name="任意多边形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5" name="任意多边形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6" name="任意多边形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7" name="任意多边形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8" name="任意多边形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9" name="任意多边形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0" name="任意多边形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1" name="任意多边形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2" name="任意多边形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3" name="任意多边形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4" name="任意多边形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7070">
              <a:defRPr sz="1600"/>
            </a:lvl6pPr>
            <a:lvl7pPr marL="1957070">
              <a:defRPr sz="1600" baseline="0"/>
            </a:lvl7pPr>
            <a:lvl8pPr marL="1957070">
              <a:defRPr sz="1600" baseline="0"/>
            </a:lvl8pPr>
            <a:lvl9pPr marL="1957070">
              <a:defRPr sz="1600" baseline="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9860" y="2819399"/>
            <a:ext cx="4416552" cy="3352801"/>
          </a:xfrm>
        </p:spPr>
        <p:txBody>
          <a:bodyPr rtlCol="0"/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263650"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7070">
              <a:defRPr sz="1600"/>
            </a:lvl6pPr>
            <a:lvl7pPr marL="1957070">
              <a:defRPr sz="1600"/>
            </a:lvl7pPr>
            <a:lvl8pPr marL="1957070">
              <a:defRPr sz="1600"/>
            </a:lvl8pPr>
            <a:lvl9pPr marL="1957070">
              <a:defRPr sz="160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2D966A0-1812-C145-B94F-02D94D49A3F7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grpSp>
        <p:nvGrpSpPr>
          <p:cNvPr id="156" name="线条" descr="线条图形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任意多边形 1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8" name="任意多边形 1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9" name="任意多边形 1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0" name="任意多边形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1" name="任意多边形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2" name="任意多边形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3" name="任意多边形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4" name="任意多边形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5" name="任意多边形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6" name="任意多边形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7" name="任意多边形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8" name="任意多边形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9" name="任意多边形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0" name="任意多边形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1" name="任意多边形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2" name="任意多边形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3" name="任意多边形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4" name="任意多边形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5" name="任意多边形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6" name="任意多边形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7" name="任意多边形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8" name="任意多边形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9" name="任意多边形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0" name="任意多边形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1" name="任意多边形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2" name="任意多边形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3" name="任意多边形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4" name="任意多边形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5" name="任意多边形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6" name="任意多边形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7" name="任意多边形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8" name="任意多边形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9" name="任意多边形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0" name="任意多边形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1" name="任意多边形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2" name="任意多边形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3" name="任意多边形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4" name="任意多边形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5" name="任意多边形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6" name="任意多边形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7" name="任意多边形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8" name="任意多边形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9" name="任意多边形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0" name="任意多边形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1" name="任意多边形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2" name="任意多边形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3" name="任意多边形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4" name="任意多边形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5" name="任意多边形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6" name="任意多边形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7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8" name="任意多边形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9" name="任意多边形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0" name="任意多边形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1" name="任意多边形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2" name="任意多边形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3" name="任意多边形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4" name="任意多边形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5" name="任意多边形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6" name="任意多边形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7" name="任意多边形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8" name="任意多边形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9" name="任意多边形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0" name="任意多边形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1" name="任意多边形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2" name="任意多边形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3" name="任意多边形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4" name="任意多边形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5" name="任意多边形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6" name="任意多边形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7" name="任意多边形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8" name="任意多边形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9" name="任意多边形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0" name="任意多边形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415D245-A3C2-6347-9EF7-9724E4EEFCD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EF14F0-46D0-8840-9EFF-5BEB1ECF73C3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grpSp>
        <p:nvGrpSpPr>
          <p:cNvPr id="615" name="框架" descr="方框图形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组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组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任意多边形 843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5" name="任意多边形 844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6" name="任意多边形 845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7" name="任意多边形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8" name="任意多边形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9" name="任意多边形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0" name="任意多边形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1" name="任意多边形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2" name="任意多边形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3" name="任意多边形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4" name="任意多边形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5" name="任意多边形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6" name="任意多边形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7" name="任意多边形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8" name="任意多边形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9" name="任意多边形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0" name="任意多边形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1" name="任意多边形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2" name="任意多边形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3" name="任意多边形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4" name="任意多边形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5" name="任意多边形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6" name="任意多边形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7" name="任意多边形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8" name="任意多边形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9" name="任意多边形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0" name="任意多边形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1" name="任意多边形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2" name="任意多边形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3" name="任意多边形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4" name="任意多边形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5" name="任意多边形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6" name="任意多边形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7" name="任意多边形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8" name="任意多边形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9" name="任意多边形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0" name="任意多边形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1" name="任意多边形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2" name="任意多边形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3" name="任意多边形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4" name="任意多边形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5" name="任意多边形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6" name="任意多边形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7" name="任意多边形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8" name="任意多边形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9" name="任意多边形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0" name="任意多边形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1" name="任意多边形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2" name="任意多边形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3" name="任意多边形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4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5" name="任意多边形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6" name="任意多边形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7" name="任意多边形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8" name="任意多边形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9" name="任意多边形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0" name="任意多边形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1" name="任意多边形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2" name="任意多边形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3" name="任意多边形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4" name="任意多边形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5" name="任意多边形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6" name="任意多边形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7" name="任意多边形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8" name="任意多边形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9" name="任意多边形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0" name="任意多边形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1" name="任意多边形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2" name="任意多边形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3" name="任意多边形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4" name="任意多边形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5" name="任意多边形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6" name="任意多边形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7" name="任意多边形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p:grpSp>
            <p:nvGrpSpPr>
              <p:cNvPr id="769" name="组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任意多边形 769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1" name="任意多边形 770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2" name="任意多边形 771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3" name="任意多边形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4" name="任意多边形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5" name="任意多边形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6" name="任意多边形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7" name="任意多边形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8" name="任意多边形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9" name="任意多边形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0" name="任意多边形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1" name="任意多边形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2" name="任意多边形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3" name="任意多边形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4" name="任意多边形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5" name="任意多边形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6" name="任意多边形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7" name="任意多边形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8" name="任意多边形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9" name="任意多边形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0" name="任意多边形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1" name="任意多边形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2" name="任意多边形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3" name="任意多边形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4" name="任意多边形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5" name="任意多边形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6" name="任意多边形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7" name="任意多边形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8" name="任意多边形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9" name="任意多边形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0" name="任意多边形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1" name="任意多边形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2" name="任意多边形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3" name="任意多边形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4" name="任意多边形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5" name="任意多边形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6" name="任意多边形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7" name="任意多边形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8" name="任意多边形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9" name="任意多边形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0" name="任意多边形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1" name="任意多边形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2" name="任意多边形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3" name="任意多边形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4" name="任意多边形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5" name="任意多边形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6" name="任意多边形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7" name="任意多边形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8" name="任意多边形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9" name="任意多边形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0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1" name="任意多边形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2" name="任意多边形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3" name="任意多边形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4" name="任意多边形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5" name="任意多边形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6" name="任意多边形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7" name="任意多边形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8" name="任意多边形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9" name="任意多边形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0" name="任意多边形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1" name="任意多边形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2" name="任意多边形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3" name="任意多边形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4" name="任意多边形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5" name="任意多边形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6" name="任意多边形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7" name="任意多边形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8" name="任意多边形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9" name="任意多边形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0" name="任意多边形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1" name="任意多边形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2" name="任意多边形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3" name="任意多边形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</p:grpSp>
        <p:grpSp>
          <p:nvGrpSpPr>
            <p:cNvPr id="617" name="组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组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任意多边形 693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5" name="任意多边形 694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6" name="任意多边形 695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7" name="任意多边形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8" name="任意多边形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9" name="任意多边形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0" name="任意多边形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1" name="任意多边形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2" name="任意多边形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3" name="任意多边形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4" name="任意多边形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5" name="任意多边形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6" name="任意多边形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7" name="任意多边形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8" name="任意多边形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9" name="任意多边形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0" name="任意多边形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1" name="任意多边形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2" name="任意多边形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3" name="任意多边形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4" name="任意多边形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5" name="任意多边形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6" name="任意多边形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7" name="任意多边形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8" name="任意多边形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9" name="任意多边形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0" name="任意多边形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1" name="任意多边形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2" name="任意多边形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3" name="任意多边形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4" name="任意多边形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5" name="任意多边形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6" name="任意多边形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7" name="任意多边形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8" name="任意多边形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9" name="任意多边形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0" name="任意多边形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1" name="任意多边形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2" name="任意多边形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3" name="任意多边形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4" name="任意多边形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5" name="任意多边形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6" name="任意多边形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7" name="任意多边形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8" name="任意多边形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9" name="任意多边形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0" name="任意多边形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1" name="任意多边形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2" name="任意多边形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3" name="任意多边形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4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5" name="任意多边形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6" name="任意多边形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7" name="任意多边形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8" name="任意多边形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9" name="任意多边形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0" name="任意多边形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1" name="任意多边形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2" name="任意多边形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3" name="任意多边形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4" name="任意多边形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5" name="任意多边形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6" name="任意多边形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7" name="任意多边形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8" name="任意多边形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9" name="任意多边形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0" name="任意多边形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1" name="任意多边形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2" name="任意多边形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3" name="任意多边形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4" name="任意多边形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5" name="任意多边形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6" name="任意多边形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7" name="任意多边形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p:grpSp>
            <p:nvGrpSpPr>
              <p:cNvPr id="619" name="组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任意多边形 619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1" name="任意多边形 620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2" name="任意多边形 621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3" name="任意多边形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4" name="任意多边形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5" name="任意多边形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6" name="任意多边形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7" name="任意多边形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8" name="任意多边形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9" name="任意多边形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0" name="任意多边形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1" name="任意多边形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2" name="任意多边形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3" name="任意多边形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4" name="任意多边形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5" name="任意多边形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6" name="任意多边形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7" name="任意多边形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8" name="任意多边形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9" name="任意多边形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0" name="任意多边形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1" name="任意多边形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2" name="任意多边形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3" name="任意多边形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4" name="任意多边形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5" name="任意多边形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6" name="任意多边形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7" name="任意多边形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8" name="任意多边形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9" name="任意多边形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0" name="任意多边形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1" name="任意多边形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2" name="任意多边形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3" name="任意多边形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4" name="任意多边形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5" name="任意多边形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6" name="任意多边形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7" name="任意多边形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8" name="任意多边形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9" name="任意多边形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0" name="任意多边形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1" name="任意多边形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2" name="任意多边形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3" name="任意多边形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4" name="任意多边形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5" name="任意多边形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6" name="任意多边形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7" name="任意多边形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8" name="任意多边形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9" name="任意多边形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0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1" name="任意多边形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2" name="任意多边形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3" name="任意多边形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4" name="任意多边形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5" name="任意多边形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6" name="任意多边形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7" name="任意多边形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8" name="任意多边形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9" name="任意多边形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0" name="任意多边形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1" name="任意多边形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2" name="任意多边形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3" name="任意多边形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4" name="任意多边形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5" name="任意多边形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6" name="任意多边形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7" name="任意多边形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8" name="任意多边形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9" name="任意多边形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0" name="任意多边形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1" name="任意多边形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2" name="任意多边形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3" name="任意多边形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3EE8D5-EE3D-8040-AD0B-7588CC69464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grpSp>
        <p:nvGrpSpPr>
          <p:cNvPr id="614" name="框架" descr="方框图形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组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组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任意多边形 842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4" name="任意多边形 843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5" name="任意多边形 844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6" name="任意多边形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7" name="任意多边形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8" name="任意多边形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9" name="任意多边形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0" name="任意多边形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1" name="任意多边形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2" name="任意多边形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3" name="任意多边形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4" name="任意多边形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5" name="任意多边形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6" name="任意多边形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7" name="任意多边形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8" name="任意多边形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9" name="任意多边形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0" name="任意多边形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1" name="任意多边形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2" name="任意多边形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3" name="任意多边形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4" name="任意多边形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5" name="任意多边形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6" name="任意多边形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7" name="任意多边形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8" name="任意多边形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9" name="任意多边形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0" name="任意多边形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1" name="任意多边形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2" name="任意多边形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3" name="任意多边形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4" name="任意多边形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5" name="任意多边形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6" name="任意多边形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7" name="任意多边形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8" name="任意多边形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9" name="任意多边形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0" name="任意多边形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1" name="任意多边形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2" name="任意多边形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3" name="任意多边形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4" name="任意多边形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5" name="任意多边形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6" name="任意多边形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7" name="任意多边形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8" name="任意多边形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9" name="任意多边形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0" name="任意多边形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1" name="任意多边形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2" name="任意多边形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3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4" name="任意多边形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5" name="任意多边形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6" name="任意多边形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7" name="任意多边形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8" name="任意多边形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9" name="任意多边形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0" name="任意多边形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1" name="任意多边形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2" name="任意多边形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3" name="任意多边形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4" name="任意多边形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5" name="任意多边形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6" name="任意多边形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7" name="任意多边形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8" name="任意多边形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9" name="任意多边形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0" name="任意多边形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1" name="任意多边形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2" name="任意多边形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3" name="任意多边形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4" name="任意多边形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5" name="任意多边形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6" name="任意多边形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p:grpSp>
            <p:nvGrpSpPr>
              <p:cNvPr id="768" name="组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任意多边形 768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0" name="任意多边形 769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1" name="任意多边形 770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2" name="任意多边形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3" name="任意多边形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4" name="任意多边形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5" name="任意多边形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6" name="任意多边形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7" name="任意多边形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8" name="任意多边形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9" name="任意多边形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0" name="任意多边形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1" name="任意多边形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2" name="任意多边形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3" name="任意多边形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4" name="任意多边形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5" name="任意多边形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6" name="任意多边形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7" name="任意多边形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8" name="任意多边形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9" name="任意多边形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0" name="任意多边形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1" name="任意多边形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2" name="任意多边形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3" name="任意多边形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4" name="任意多边形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5" name="任意多边形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6" name="任意多边形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7" name="任意多边形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8" name="任意多边形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9" name="任意多边形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0" name="任意多边形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1" name="任意多边形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2" name="任意多边形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3" name="任意多边形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4" name="任意多边形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5" name="任意多边形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6" name="任意多边形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7" name="任意多边形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8" name="任意多边形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9" name="任意多边形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0" name="任意多边形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1" name="任意多边形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2" name="任意多边形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3" name="任意多边形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4" name="任意多边形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5" name="任意多边形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6" name="任意多边形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7" name="任意多边形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8" name="任意多边形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9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0" name="任意多边形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1" name="任意多边形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2" name="任意多边形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3" name="任意多边形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4" name="任意多边形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5" name="任意多边形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6" name="任意多边形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7" name="任意多边形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8" name="任意多边形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9" name="任意多边形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0" name="任意多边形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1" name="任意多边形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2" name="任意多边形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3" name="任意多边形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4" name="任意多边形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5" name="任意多边形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6" name="任意多边形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7" name="任意多边形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8" name="任意多边形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9" name="任意多边形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0" name="任意多边形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1" name="任意多边形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2" name="任意多边形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</p:grpSp>
        <p:grpSp>
          <p:nvGrpSpPr>
            <p:cNvPr id="616" name="组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组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任意多边形 692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4" name="任意多边形 693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5" name="任意多边形 694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6" name="任意多边形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7" name="任意多边形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8" name="任意多边形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9" name="任意多边形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0" name="任意多边形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1" name="任意多边形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2" name="任意多边形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3" name="任意多边形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4" name="任意多边形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5" name="任意多边形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6" name="任意多边形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7" name="任意多边形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8" name="任意多边形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9" name="任意多边形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0" name="任意多边形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1" name="任意多边形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2" name="任意多边形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3" name="任意多边形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4" name="任意多边形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5" name="任意多边形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6" name="任意多边形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7" name="任意多边形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8" name="任意多边形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9" name="任意多边形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0" name="任意多边形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1" name="任意多边形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2" name="任意多边形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3" name="任意多边形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4" name="任意多边形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5" name="任意多边形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6" name="任意多边形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7" name="任意多边形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8" name="任意多边形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9" name="任意多边形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0" name="任意多边形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1" name="任意多边形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2" name="任意多边形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3" name="任意多边形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4" name="任意多边形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5" name="任意多边形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6" name="任意多边形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7" name="任意多边形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8" name="任意多边形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9" name="任意多边形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0" name="任意多边形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1" name="任意多边形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2" name="任意多边形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3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4" name="任意多边形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5" name="任意多边形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6" name="任意多边形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7" name="任意多边形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8" name="任意多边形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9" name="任意多边形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0" name="任意多边形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1" name="任意多边形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2" name="任意多边形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3" name="任意多边形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4" name="任意多边形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5" name="任意多边形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6" name="任意多边形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7" name="任意多边形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8" name="任意多边形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9" name="任意多边形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0" name="任意多边形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1" name="任意多边形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2" name="任意多边形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3" name="任意多边形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4" name="任意多边形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5" name="任意多边形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6" name="任意多边形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p:grpSp>
            <p:nvGrpSpPr>
              <p:cNvPr id="618" name="组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任意多边形 618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0" name="任意多边形 619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1" name="任意多边形 620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2" name="任意多边形 621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3" name="任意多边形 622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4" name="任意多边形 623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5" name="任意多边形 624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6" name="任意多边形 625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7" name="任意多边形 626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8" name="任意多边形 627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9" name="任意多边形 628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0" name="任意多边形 629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1" name="任意多边形 630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2" name="任意多边形 631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3" name="任意多边形 632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4" name="任意多边形 633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5" name="任意多边形 634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6" name="任意多边形 635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7" name="任意多边形 636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8" name="任意多边形 637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9" name="任意多边形 638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0" name="任意多边形 639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1" name="任意多边形 640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2" name="任意多边形 641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3" name="任意多边形 642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4" name="任意多边形 643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5" name="任意多边形 644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6" name="任意多边形 645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7" name="任意多边形 646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8" name="任意多边形 647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9" name="任意多边形 648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0" name="任意多边形 649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1" name="任意多边形 650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2" name="任意多边形 651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3" name="任意多边形 652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4" name="任意多边形 653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5" name="任意多边形 654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6" name="任意多边形 655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7" name="任意多边形 656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8" name="任意多边形 657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9" name="任意多边形 658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0" name="任意多边形 659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1" name="任意多边形 660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2" name="任意多边形 661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3" name="任意多边形 662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4" name="任意多边形 663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5" name="任意多边形 664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6" name="任意多边形 665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7" name="任意多边形 666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8" name="任意多边形 667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9" name="任意多边形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0" name="任意多边形 669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1" name="任意多边形 670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2" name="任意多边形 671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3" name="任意多边形 672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4" name="任意多边形 673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5" name="任意多边形 674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6" name="任意多边形 675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7" name="任意多边形 676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8" name="任意多边形 677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9" name="任意多边形 678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0" name="任意多边形 679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1" name="任意多边形 680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2" name="任意多边形 681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3" name="任意多边形 682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4" name="任意多边形 683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5" name="任意多边形 684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6" name="任意多边形 685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7" name="任意多边形 686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8" name="任意多边形 687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9" name="任意多边形 688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0" name="任意多边形 689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1" name="任意多边形 690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2" name="任意多边形 691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8E6399B-EB43-E640-BEBB-10744EFACF1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grpSp>
        <p:nvGrpSpPr>
          <p:cNvPr id="7" name="线条" descr="线条图形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任意多边形 7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 9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任意多边形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任意多边形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任意多边形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任意多边形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任意多边形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" name="任意多边形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" name="任意多边形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" name="任意多边形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" name="任意多边形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任意多边形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" name="任意多边形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" name="任意多边形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任意多边形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" name="任意多边形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" name="任意多边形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" name="任意多边形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" name="任意多边形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" name="任意多边形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" name="任意多边形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" name="任意多边形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" name="任意多边形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" name="任意多边形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" name="任意多边形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任意多边形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" name="任意多边形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9" name="任意多边形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0" name="任意多边形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1" name="任意多边形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2" name="任意多边形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3" name="任意多边形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4" name="任意多边形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5" name="任意多边形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6" name="任意多边形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7" name="任意多边形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8" name="任意多边形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9" name="任意多边形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0" name="任意多边形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1" name="任意多边形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2" name="任意多边形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3" name="任意多边形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4" name="任意多边形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5" name="任意多边形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6" name="任意多边形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7" name="任意多边形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8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9" name="任意多边形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0" name="任意多边形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1" name="任意多边形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2" name="任意多边形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3" name="任意多边形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4" name="任意多边形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5" name="任意多边形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6" name="任意多边形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7" name="任意多边形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8" name="任意多边形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9" name="任意多边形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0" name="任意多边形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1" name="任意多边形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2" name="任意多边形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3" name="任意多边形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4" name="任意多边形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5" name="任意多边形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6" name="任意多边形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7" name="任意多边形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8" name="任意多边形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9" name="任意多边形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0" name="任意多边形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1" name="任意多边形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vert"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7070">
              <a:defRPr/>
            </a:lvl6pPr>
            <a:lvl7pPr marL="1957070">
              <a:defRPr/>
            </a:lvl7pPr>
            <a:lvl8pPr marL="1957070">
              <a:defRPr/>
            </a:lvl8pPr>
            <a:lvl9pPr marL="1957070">
              <a:defRPr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FA2FAAC-E5D4-8B4A-A198-95B04203AE6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vert"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grpSp>
        <p:nvGrpSpPr>
          <p:cNvPr id="7" name="线条" descr="线条图形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任意多边形 1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9" name="任意多边形 1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 1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任意多边形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任意多边形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任意多边形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任意多边形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任意多边形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" name="任意多边形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" name="任意多边形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" name="任意多边形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" name="任意多边形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任意多边形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" name="任意多边形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" name="任意多边形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任意多边形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" name="任意多边形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" name="任意多边形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" name="任意多边形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" name="任意多边形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" name="任意多边形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" name="任意多边形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" name="任意多边形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" name="任意多边形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" name="任意多边形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" name="任意多边形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任意多边形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" name="任意多边形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9" name="任意多边形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0" name="任意多边形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1" name="任意多边形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2" name="任意多边形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3" name="任意多边形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4" name="任意多边形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5" name="任意多边形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6" name="任意多边形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7" name="任意多边形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8" name="任意多边形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9" name="任意多边形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0" name="任意多边形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1" name="任意多边形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2" name="任意多边形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3" name="任意多边形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4" name="任意多边形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5" name="任意多边形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6" name="任意多边形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7" name="任意多边形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8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9" name="任意多边形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0" name="任意多边形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1" name="任意多边形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2" name="任意多边形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3" name="任意多边形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4" name="任意多边形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5" name="任意多边形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6" name="任意多边形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7" name="任意多边形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8" name="任意多边形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9" name="任意多边形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0" name="任意多边形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1" name="任意多边形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2" name="任意多边形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3" name="任意多边形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4" name="任意多边形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5" name="任意多边形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6" name="任意多边形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7" name="任意多边形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8" name="任意多边形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9" name="任意多边形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0" name="任意多边形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1" name="任意多边形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vert"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61745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BE74AC1-69C1-9C4F-92A2-D35A5CB26BB7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923212" y="6400801"/>
            <a:ext cx="13962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F3B04F9-A015-0549-B6CF-CD17D4B72C1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anose="020B0604020202090204" pitchFamily="34" charset="0"/>
        <a:buChar char="▪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575945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anose="020B0609020204030204" pitchFamily="49" charset="0"/>
        <a:buChar char="–"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045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anose="020B0604020202090204" pitchFamily="34" charset="0"/>
        <a:buChar char="▪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0331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anose="020B0609020204030204" pitchFamily="49" charset="0"/>
        <a:buChar char="–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2617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anose="020B0604020202090204" pitchFamily="34" charset="0"/>
        <a:buChar char="▪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4903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anose="020B0609020204030204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anose="020B060402020209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5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anose="020B0609020204030204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1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anose="020B060402020209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microsoft.com/office/2007/relationships/hdphoto" Target="../media/image20.wdp"/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3.png"/><Relationship Id="rId2" Type="http://schemas.openxmlformats.org/officeDocument/2006/relationships/hyperlink" Target="https://www.yuque.com/xyvc/wlcy/yqc15p" TargetMode="Externa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microsoft.com/office/2007/relationships/hdphoto" Target="../media/image20.wdp"/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microsoft.com/office/2007/relationships/hdphoto" Target="../media/image20.wdp"/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hdphoto" Target="../media/image20.wdp"/><Relationship Id="rId4" Type="http://schemas.openxmlformats.org/officeDocument/2006/relationships/image" Target="../media/image19.png"/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microsoft.com/office/2007/relationships/hdphoto" Target="../media/image20.wdp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7.jpeg"/><Relationship Id="rId3" Type="http://schemas.microsoft.com/office/2007/relationships/hdphoto" Target="../media/image20.wdp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microsoft.com/office/2007/relationships/hdphoto" Target="../media/image20.wdp"/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hdphoto" Target="../media/image20.wdp"/><Relationship Id="rId4" Type="http://schemas.openxmlformats.org/officeDocument/2006/relationships/image" Target="../media/image19.png"/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hdphoto" Target="../media/image20.wdp"/><Relationship Id="rId4" Type="http://schemas.openxmlformats.org/officeDocument/2006/relationships/image" Target="../media/image19.png"/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105785" y="3249295"/>
            <a:ext cx="5977255" cy="1300480"/>
          </a:xfrm>
          <a:solidFill>
            <a:srgbClr val="FFC000"/>
          </a:solidFill>
        </p:spPr>
        <p:txBody>
          <a:bodyPr rtlCol="0"/>
          <a:lstStyle/>
          <a:p>
            <a:pPr algn="ctr" rtl="0"/>
            <a:r>
              <a:rPr lang="zh-CN" altLang="en-US" sz="72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火  种  节</a:t>
            </a:r>
            <a:endParaRPr lang="zh-CN" altLang="en-US" sz="72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66282" y="4437112"/>
            <a:ext cx="6192688" cy="1008112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72669" y="2420987"/>
            <a:ext cx="6192688" cy="1008112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  <a:cs typeface="+mn-ea"/>
                <a:sym typeface="+mn-lt"/>
              </a:rPr>
              <a:t>小时体验极速创业，点亮心中的火种</a:t>
            </a:r>
            <a:endParaRPr lang="zh-CN" altLang="en-US" sz="28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-1" y="893"/>
            <a:ext cx="12188825" cy="6856214"/>
          </a:xfrm>
          <a:prstGeom prst="rect">
            <a:avLst/>
          </a:prstGeom>
          <a:noFill/>
          <a:ln w="1016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98069" y="4487711"/>
            <a:ext cx="6232072" cy="453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Kick off Your Entrepreneurship in Three Hours!</a:t>
            </a:r>
            <a:endParaRPr lang="zh-CN" altLang="en-US" sz="20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 descr="logo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537" y="1073850"/>
            <a:ext cx="3025135" cy="1496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54252" y="1196752"/>
            <a:ext cx="2915816" cy="102076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>
                <a:solidFill>
                  <a:srgbClr val="FFC000"/>
                </a:solidFill>
                <a:latin typeface="+mn-lt"/>
                <a:ea typeface="+mn-ea"/>
                <a:cs typeface="+mn-ea"/>
                <a:sym typeface="+mn-lt"/>
              </a:rPr>
              <a:t>关于火种节</a:t>
            </a:r>
            <a:endParaRPr lang="zh-CN" altLang="en-US" sz="4000" b="1" dirty="0">
              <a:solidFill>
                <a:srgbClr val="FFC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360488" y="1628800"/>
            <a:ext cx="9467850" cy="4103687"/>
          </a:xfrm>
        </p:spPr>
        <p:txBody>
          <a:bodyPr>
            <a:normAutofit/>
          </a:bodyPr>
          <a:lstStyle/>
          <a:p>
            <a:pPr algn="ctr"/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endParaRPr lang="en-US" altLang="zh-CN" sz="3200" dirty="0">
              <a:latin typeface="+mn-lt"/>
              <a:ea typeface="+mn-ea"/>
              <a:cs typeface="+mn-ea"/>
              <a:sym typeface="+mn-lt"/>
            </a:endParaRPr>
          </a:p>
          <a:p>
            <a:pPr marL="0" indent="0">
              <a:buNone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                            由校园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VC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发起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0" indent="0" algn="ctr">
              <a:buNone/>
            </a:pPr>
            <a:endParaRPr lang="en-US" altLang="zh-CN" sz="400" dirty="0">
              <a:latin typeface="+mn-lt"/>
              <a:ea typeface="+mn-ea"/>
              <a:cs typeface="+mn-ea"/>
              <a:sym typeface="+mn-lt"/>
            </a:endParaRPr>
          </a:p>
          <a:p>
            <a:pPr marL="0" indent="0" algn="ctr">
              <a:buNone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组队完成创新挑战，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小时体验急速创业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0" indent="0" algn="ctr">
              <a:buNone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清晰自己的创业想法，找到伙伴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0" indent="0" algn="ctr">
              <a:buNone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短时间、高强度、团队协作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3500" dirty="0">
              <a:latin typeface="+mn-lt"/>
              <a:ea typeface="+mn-ea"/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 descr="logo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436" y="2564904"/>
            <a:ext cx="1926468" cy="952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917948" y="1844824"/>
            <a:ext cx="8496944" cy="93610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3200" b="1" dirty="0">
                <a:latin typeface="+mn-lt"/>
                <a:ea typeface="+mn-ea"/>
                <a:cs typeface="+mn-ea"/>
                <a:sym typeface="+mn-lt"/>
              </a:rPr>
              <a:t>火种节源于 谷歌设计冲刺 </a:t>
            </a:r>
            <a:r>
              <a:rPr lang="en-US" altLang="zh-CN" sz="3200" b="1" dirty="0">
                <a:latin typeface="+mn-lt"/>
                <a:ea typeface="+mn-ea"/>
                <a:cs typeface="+mn-ea"/>
                <a:sym typeface="+mn-lt"/>
              </a:rPr>
              <a:t>Design Sprint</a:t>
            </a:r>
            <a:endParaRPr lang="en-US" altLang="zh-CN" sz="3200" b="1" dirty="0">
              <a:latin typeface="+mn-lt"/>
              <a:ea typeface="+mn-ea"/>
              <a:cs typeface="+mn-ea"/>
              <a:sym typeface="+mn-lt"/>
            </a:endParaRPr>
          </a:p>
          <a:p>
            <a:pPr marL="0" indent="0" algn="ctr">
              <a:buNone/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0" indent="0" algn="ctr">
              <a:buNone/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0" indent="0" algn="ctr">
              <a:buNone/>
            </a:pP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8108" y="2996952"/>
            <a:ext cx="5765943" cy="1879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70076" y="2132856"/>
            <a:ext cx="6120680" cy="2808312"/>
          </a:xfrm>
        </p:spPr>
        <p:txBody>
          <a:bodyPr>
            <a:norm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b="1" dirty="0">
                <a:latin typeface="+mn-lt"/>
                <a:ea typeface="+mn-ea"/>
                <a:cs typeface="+mn-ea"/>
                <a:sym typeface="+mn-lt"/>
              </a:rPr>
              <a:t>帮你迈出创业第一步</a:t>
            </a:r>
            <a:b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4000" b="1" dirty="0">
                <a:latin typeface="+mn-lt"/>
                <a:ea typeface="+mn-ea"/>
                <a:cs typeface="+mn-ea"/>
                <a:sym typeface="+mn-lt"/>
              </a:rPr>
              <a:t>自组织的创业能力训练</a:t>
            </a:r>
            <a:b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4000" b="1" dirty="0">
                <a:latin typeface="+mn-lt"/>
                <a:ea typeface="+mn-ea"/>
                <a:cs typeface="+mn-ea"/>
                <a:sym typeface="+mn-lt"/>
              </a:rPr>
              <a:t>建立和激活创业者社群</a:t>
            </a:r>
            <a:endParaRPr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3142084" y="1484784"/>
            <a:ext cx="4113257" cy="72008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火种节的价值</a:t>
            </a:r>
            <a:endParaRPr lang="zh-CN" altLang="en-US" sz="40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 descr="logo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564" y="1471216"/>
            <a:ext cx="1545537" cy="764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70076" y="2132856"/>
            <a:ext cx="6120680" cy="2808312"/>
          </a:xfrm>
        </p:spPr>
        <p:txBody>
          <a:bodyPr>
            <a:norm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b="1" dirty="0">
                <a:cs typeface="+mn-ea"/>
                <a:sym typeface="+mn-lt"/>
              </a:rPr>
              <a:t>尽早发布平庸的产品</a:t>
            </a:r>
            <a:br>
              <a:rPr lang="en-US" altLang="zh-CN" sz="4000" b="1" dirty="0">
                <a:cs typeface="+mn-ea"/>
                <a:sym typeface="+mn-lt"/>
              </a:rPr>
            </a:br>
            <a:r>
              <a:rPr lang="zh-CN" altLang="en-US" sz="4000" b="1" dirty="0">
                <a:latin typeface="+mn-lt"/>
                <a:ea typeface="+mn-ea"/>
                <a:cs typeface="+mn-ea"/>
                <a:sym typeface="+mn-lt"/>
              </a:rPr>
              <a:t>三次发散收敛的呼吸</a:t>
            </a:r>
            <a:br>
              <a:rPr lang="zh-CN" altLang="en-US" sz="4000" b="1" dirty="0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4000" b="1" dirty="0">
                <a:cs typeface="+mn-ea"/>
                <a:sym typeface="+mn-lt"/>
              </a:rPr>
              <a:t>在一起独立工作</a:t>
            </a:r>
            <a:endParaRPr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3142084" y="1484784"/>
            <a:ext cx="4113257" cy="72008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火种节的学习要点</a:t>
            </a:r>
            <a:endParaRPr lang="zh-CN" altLang="en-US" sz="40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logo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564" y="1471216"/>
            <a:ext cx="1545537" cy="764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538128" y="620688"/>
            <a:ext cx="5112568" cy="1020762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kumimoji="1" lang="zh-CN" altLang="en-US" sz="4000" b="1" dirty="0">
                <a:latin typeface="+mn-lt"/>
                <a:ea typeface="+mn-ea"/>
                <a:cs typeface="+mn-ea"/>
                <a:sym typeface="+mn-lt"/>
              </a:rPr>
              <a:t>火种节九大环节</a:t>
            </a:r>
            <a:endParaRPr kumimoji="1"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1844" y="2377783"/>
            <a:ext cx="1544384" cy="1440160"/>
          </a:xfrm>
          <a:prstGeom prst="rect">
            <a:avLst/>
          </a:prstGeom>
          <a:solidFill>
            <a:schemeClr val="tx1">
              <a:lumMod val="95000"/>
              <a:alpha val="40000"/>
            </a:schemeClr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C000"/>
                </a:solidFill>
                <a:cs typeface="+mn-ea"/>
                <a:sym typeface="+mn-lt"/>
              </a:rPr>
              <a:t>组 队</a:t>
            </a:r>
            <a:endParaRPr lang="zh-CN" altLang="en-US" sz="2800" b="1" dirty="0">
              <a:solidFill>
                <a:srgbClr val="FFC000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82044" y="2377783"/>
            <a:ext cx="1544384" cy="1440160"/>
          </a:xfrm>
          <a:prstGeom prst="rect">
            <a:avLst/>
          </a:prstGeom>
          <a:solidFill>
            <a:schemeClr val="tx1">
              <a:lumMod val="95000"/>
              <a:alpha val="40000"/>
            </a:schemeClr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C000"/>
                </a:solidFill>
                <a:cs typeface="+mn-ea"/>
                <a:sym typeface="+mn-lt"/>
              </a:rPr>
              <a:t>理解需求</a:t>
            </a:r>
            <a:endParaRPr lang="en-US" altLang="zh-CN" sz="2400" b="1" dirty="0">
              <a:solidFill>
                <a:srgbClr val="FFC000"/>
              </a:solidFill>
              <a:cs typeface="+mn-ea"/>
              <a:sym typeface="+mn-lt"/>
            </a:endParaRPr>
          </a:p>
          <a:p>
            <a:pPr algn="ctr"/>
            <a:r>
              <a:rPr lang="zh-CN" altLang="en-US" sz="2400" b="1" dirty="0">
                <a:solidFill>
                  <a:srgbClr val="FFC000"/>
                </a:solidFill>
                <a:cs typeface="+mn-ea"/>
                <a:sym typeface="+mn-lt"/>
              </a:rPr>
              <a:t>定义需求</a:t>
            </a:r>
            <a:endParaRPr lang="zh-CN" altLang="en-US" sz="2000" b="1" dirty="0">
              <a:solidFill>
                <a:srgbClr val="FFC000"/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82244" y="2372289"/>
            <a:ext cx="1544384" cy="1440160"/>
          </a:xfrm>
          <a:prstGeom prst="rect">
            <a:avLst/>
          </a:prstGeom>
          <a:solidFill>
            <a:schemeClr val="tx1">
              <a:lumMod val="95000"/>
              <a:alpha val="40000"/>
            </a:schemeClr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C000"/>
                </a:solidFill>
                <a:cs typeface="+mn-ea"/>
                <a:sym typeface="+mn-lt"/>
              </a:rPr>
              <a:t>发散方案</a:t>
            </a:r>
            <a:endParaRPr lang="en-US" altLang="zh-CN" sz="2400" b="1" dirty="0">
              <a:solidFill>
                <a:srgbClr val="FFC000"/>
              </a:solidFill>
              <a:cs typeface="+mn-ea"/>
              <a:sym typeface="+mn-lt"/>
            </a:endParaRPr>
          </a:p>
          <a:p>
            <a:pPr algn="ctr"/>
            <a:r>
              <a:rPr lang="zh-CN" altLang="en-US" sz="2400" b="1" dirty="0">
                <a:solidFill>
                  <a:srgbClr val="FFC000"/>
                </a:solidFill>
                <a:cs typeface="+mn-ea"/>
                <a:sym typeface="+mn-lt"/>
              </a:rPr>
              <a:t>决定方案</a:t>
            </a:r>
            <a:endParaRPr lang="zh-CN" altLang="en-US" sz="2000" b="1" dirty="0">
              <a:solidFill>
                <a:srgbClr val="FFC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82444" y="2372289"/>
            <a:ext cx="1544384" cy="1440160"/>
          </a:xfrm>
          <a:prstGeom prst="rect">
            <a:avLst/>
          </a:prstGeom>
          <a:solidFill>
            <a:schemeClr val="tx1">
              <a:lumMod val="95000"/>
              <a:alpha val="40000"/>
            </a:schemeClr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C000"/>
                </a:solidFill>
                <a:cs typeface="+mn-ea"/>
                <a:sym typeface="+mn-lt"/>
              </a:rPr>
              <a:t>制作原型</a:t>
            </a:r>
            <a:endParaRPr lang="en-US" altLang="zh-CN" sz="2400" b="1" dirty="0">
              <a:solidFill>
                <a:srgbClr val="FFC000"/>
              </a:solidFill>
              <a:cs typeface="+mn-ea"/>
              <a:sym typeface="+mn-lt"/>
            </a:endParaRPr>
          </a:p>
          <a:p>
            <a:pPr algn="ctr"/>
            <a:r>
              <a:rPr lang="zh-CN" altLang="en-US" sz="2400" b="1" dirty="0">
                <a:solidFill>
                  <a:srgbClr val="FFC000"/>
                </a:solidFill>
                <a:cs typeface="+mn-ea"/>
                <a:sym typeface="+mn-lt"/>
              </a:rPr>
              <a:t>验证原型</a:t>
            </a:r>
            <a:endParaRPr lang="zh-CN" altLang="en-US" b="1" dirty="0">
              <a:solidFill>
                <a:srgbClr val="FFC000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10636" y="2372289"/>
            <a:ext cx="1544384" cy="1440160"/>
          </a:xfrm>
          <a:prstGeom prst="rect">
            <a:avLst/>
          </a:prstGeom>
          <a:solidFill>
            <a:schemeClr val="tx1">
              <a:lumMod val="95000"/>
              <a:alpha val="40000"/>
            </a:schemeClr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C000"/>
                </a:solidFill>
                <a:cs typeface="+mn-ea"/>
                <a:sym typeface="+mn-lt"/>
              </a:rPr>
              <a:t>路演</a:t>
            </a:r>
            <a:endParaRPr lang="zh-CN" altLang="en-US" sz="2800" b="1" dirty="0">
              <a:solidFill>
                <a:srgbClr val="FFC000"/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38828" y="2348880"/>
            <a:ext cx="1544384" cy="1440160"/>
          </a:xfrm>
          <a:prstGeom prst="rect">
            <a:avLst/>
          </a:prstGeom>
          <a:solidFill>
            <a:schemeClr val="tx1">
              <a:lumMod val="95000"/>
              <a:alpha val="40000"/>
            </a:schemeClr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C000"/>
                </a:solidFill>
                <a:cs typeface="+mn-ea"/>
                <a:sym typeface="+mn-lt"/>
              </a:rPr>
              <a:t>复盘</a:t>
            </a:r>
            <a:endParaRPr lang="zh-CN" altLang="en-US" sz="2800" b="1" dirty="0">
              <a:solidFill>
                <a:srgbClr val="FFC000"/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3252" y="4221088"/>
            <a:ext cx="7962319" cy="2173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557909" y="1628800"/>
            <a:ext cx="9073008" cy="1020762"/>
          </a:xfrm>
        </p:spPr>
        <p:txBody>
          <a:bodyPr>
            <a:noAutofit/>
          </a:bodyPr>
          <a:lstStyle/>
          <a:p>
            <a:pPr algn="ctr"/>
            <a:r>
              <a:rPr lang="zh-CN" altLang="en-US" sz="4000" b="1" dirty="0">
                <a:latin typeface="+mn-lt"/>
                <a:ea typeface="+mn-ea"/>
                <a:cs typeface="+mn-ea"/>
                <a:sym typeface="+mn-lt"/>
              </a:rPr>
              <a:t>选择定义人生，你是团队中的哪种人</a:t>
            </a:r>
            <a:endParaRPr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61964" y="3429000"/>
            <a:ext cx="2160240" cy="1368152"/>
          </a:xfrm>
          <a:prstGeom prst="rect">
            <a:avLst/>
          </a:prstGeom>
          <a:solidFill>
            <a:srgbClr val="FF0000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自燃型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78288" y="3429000"/>
            <a:ext cx="2160240" cy="1368152"/>
          </a:xfrm>
          <a:prstGeom prst="rect">
            <a:avLst/>
          </a:prstGeom>
          <a:solidFill>
            <a:srgbClr val="FFC000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可燃型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894612" y="3434612"/>
            <a:ext cx="2160240" cy="1368152"/>
          </a:xfrm>
          <a:prstGeom prst="rect">
            <a:avLst/>
          </a:prstGeom>
          <a:solidFill>
            <a:srgbClr val="00B0F0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阻燃型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5740" y="63992"/>
            <a:ext cx="12063848" cy="6729816"/>
            <a:chOff x="79236" y="63992"/>
            <a:chExt cx="12063848" cy="6729816"/>
          </a:xfrm>
        </p:grpSpPr>
        <p:pic>
          <p:nvPicPr>
            <p:cNvPr id="1028" name="Picture 4" descr="Think Different Wallpapers (73+ images)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36" y="63992"/>
              <a:ext cx="10767703" cy="67298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Think Different Wallpapers (73+ images)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9"/>
            <a:stretch>
              <a:fillRect/>
            </a:stretch>
          </p:blipFill>
          <p:spPr bwMode="auto">
            <a:xfrm>
              <a:off x="10846939" y="63992"/>
              <a:ext cx="1296145" cy="6729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02441" y="5314287"/>
            <a:ext cx="4320480" cy="57606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大胆提出</a:t>
            </a:r>
            <a:r>
              <a:rPr lang="zh-CN" altLang="en-US" sz="3500" b="1" noProof="1">
                <a:solidFill>
                  <a:srgbClr val="FF9900"/>
                </a:solidFill>
                <a:latin typeface="+mn-lt"/>
                <a:ea typeface="+mn-ea"/>
                <a:cs typeface="+mn-ea"/>
                <a:sym typeface="+mn-lt"/>
              </a:rPr>
              <a:t>疯狂而愚蠢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的想法</a:t>
            </a:r>
            <a:endParaRPr lang="zh-CN" altLang="en-US" noProof="1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26" name="Picture 2" descr="Da &quot;Think different&quot; a &quot;Get a Mac&quot;, storia dell'advertise di Appl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041" y="116632"/>
            <a:ext cx="3058665" cy="420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189756" y="5890351"/>
            <a:ext cx="4248472" cy="834618"/>
            <a:chOff x="3718149" y="1844824"/>
            <a:chExt cx="4752528" cy="1008112"/>
          </a:xfrm>
        </p:grpSpPr>
        <p:sp>
          <p:nvSpPr>
            <p:cNvPr id="5" name="矩形 4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42185" y="1844824"/>
              <a:ext cx="4104456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3600" b="1" dirty="0">
                  <a:solidFill>
                    <a:schemeClr val="bg1"/>
                  </a:solidFill>
                </a:rPr>
                <a:t>疯狂而愚蠢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内容占位符 2"/>
          <p:cNvSpPr txBox="1"/>
          <p:nvPr/>
        </p:nvSpPr>
        <p:spPr>
          <a:xfrm>
            <a:off x="6094412" y="1196752"/>
            <a:ext cx="2664296" cy="2611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anose="020B0604020202090204" pitchFamily="34" charset="0"/>
              <a:buChar char="▪"/>
              <a:defRPr sz="2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575945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8045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0331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2617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4903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475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761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90204" pitchFamily="34" charset="0"/>
              <a:buNone/>
            </a:pPr>
            <a:r>
              <a:rPr lang="zh-CN" altLang="en-US" i="1" noProof="1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“真正改变世界的新想法，它们一开始都很怪”</a:t>
            </a:r>
            <a:endParaRPr lang="en-US" altLang="zh-CN" i="1" noProof="1"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marL="0" indent="0">
              <a:buFont typeface="Arial" panose="020B0604020202090204" pitchFamily="34" charset="0"/>
              <a:buNone/>
            </a:pPr>
            <a:r>
              <a:rPr lang="zh-CN" altLang="en-US" i="1" noProof="1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“乔布斯：只有疯狂到认为能改变世界的人，才能真正改变世界”</a:t>
            </a:r>
            <a:endParaRPr lang="en-US" altLang="zh-CN" i="1" noProof="1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30" name="Picture 6" descr="13 Scarily Good Brand Marketing Campaigns To Remember | Cann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948" y="5841599"/>
            <a:ext cx="1756203" cy="883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93812" y="2780928"/>
            <a:ext cx="7524836" cy="302433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在线提出创意</a:t>
            </a:r>
            <a:endParaRPr lang="en-US" altLang="zh-CN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noProof="1">
                <a:latin typeface="+mn-lt"/>
                <a:ea typeface="+mn-ea"/>
                <a:cs typeface="+mn-ea"/>
                <a:sym typeface="+mn-lt"/>
              </a:rPr>
              <a:t>活动官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：打开“创意和组队</a:t>
            </a:r>
            <a:r>
              <a:rPr lang="zh-CN" altLang="en-US" noProof="1">
                <a:cs typeface="+mn-ea"/>
                <a:sym typeface="+mn-lt"/>
              </a:rPr>
              <a:t>”按钮、“创意阶段”按钮</a:t>
            </a:r>
            <a:endParaRPr lang="en-US" altLang="zh-CN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noProof="1">
                <a:latin typeface="+mn-lt"/>
                <a:ea typeface="+mn-ea"/>
                <a:cs typeface="+mn-ea"/>
                <a:sym typeface="+mn-lt"/>
              </a:rPr>
              <a:t>参与者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：打开火种节小程序，搜索活动官创建的活动，点击“</a:t>
            </a:r>
            <a:r>
              <a:rPr lang="en-US" altLang="zh-CN" noProof="1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+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”输入创意</a:t>
            </a:r>
            <a:r>
              <a:rPr lang="zh-CN" altLang="en-US" dirty="0"/>
              <a:t>（每人限提出</a:t>
            </a:r>
            <a:r>
              <a:rPr lang="en-US" altLang="zh-CN" dirty="0"/>
              <a:t>1</a:t>
            </a:r>
            <a:r>
              <a:rPr lang="zh-CN" altLang="en-US" dirty="0"/>
              <a:t>个）</a:t>
            </a:r>
            <a:endParaRPr lang="en-US" altLang="zh-CN" noProof="1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718148" y="980728"/>
            <a:ext cx="4752528" cy="1008112"/>
            <a:chOff x="3718149" y="1844824"/>
            <a:chExt cx="4752528" cy="1008112"/>
          </a:xfrm>
        </p:grpSpPr>
        <p:sp>
          <p:nvSpPr>
            <p:cNvPr id="5" name="矩形 4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42185" y="1844824"/>
              <a:ext cx="4104456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3600" b="1" dirty="0">
                  <a:solidFill>
                    <a:schemeClr val="bg1"/>
                  </a:solidFill>
                </a:rPr>
                <a:t>提出创意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Picture 2" descr="https://yang71.lnc.edu.cn/images/minicode/spark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148" y="548887"/>
            <a:ext cx="1871500" cy="18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8218648" y="2771111"/>
            <a:ext cx="3600000" cy="3034153"/>
            <a:chOff x="6418648" y="2804654"/>
            <a:chExt cx="3600000" cy="303415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8648" y="2804654"/>
              <a:ext cx="3600000" cy="1936667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350"/>
            <a:stretch>
              <a:fillRect/>
            </a:stretch>
          </p:blipFill>
          <p:spPr>
            <a:xfrm>
              <a:off x="6418648" y="4589047"/>
              <a:ext cx="3600000" cy="1249760"/>
            </a:xfrm>
            <a:prstGeom prst="rect">
              <a:avLst/>
            </a:prstGeom>
          </p:spPr>
        </p:pic>
      </p:grpSp>
      <p:sp>
        <p:nvSpPr>
          <p:cNvPr id="9" name="圆角矩形 8"/>
          <p:cNvSpPr/>
          <p:nvPr/>
        </p:nvSpPr>
        <p:spPr>
          <a:xfrm>
            <a:off x="11099276" y="4581128"/>
            <a:ext cx="864096" cy="457672"/>
          </a:xfrm>
          <a:prstGeom prst="roundRect">
            <a:avLst/>
          </a:prstGeom>
          <a:noFill/>
          <a:ln w="38100">
            <a:solidFill>
              <a:srgbClr val="FFC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8939036" y="5149269"/>
            <a:ext cx="864096" cy="367963"/>
          </a:xfrm>
          <a:prstGeom prst="roundRect">
            <a:avLst/>
          </a:prstGeom>
          <a:noFill/>
          <a:ln w="38100">
            <a:solidFill>
              <a:srgbClr val="FFC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148" y="548887"/>
            <a:ext cx="1871500" cy="18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8974732" y="1556792"/>
            <a:ext cx="2696400" cy="5011272"/>
            <a:chOff x="8974148" y="980728"/>
            <a:chExt cx="2696400" cy="5011272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00" b="75766"/>
            <a:stretch>
              <a:fillRect/>
            </a:stretch>
          </p:blipFill>
          <p:spPr>
            <a:xfrm>
              <a:off x="8974732" y="980728"/>
              <a:ext cx="2695816" cy="1224136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797"/>
            <a:stretch>
              <a:fillRect/>
            </a:stretch>
          </p:blipFill>
          <p:spPr>
            <a:xfrm>
              <a:off x="8974148" y="2204864"/>
              <a:ext cx="2696400" cy="3787136"/>
            </a:xfrm>
            <a:prstGeom prst="rect">
              <a:avLst/>
            </a:prstGeom>
          </p:spPr>
        </p:pic>
      </p:grp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93812" y="2780928"/>
            <a:ext cx="7524836" cy="302433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集体投票，选出想要深入设计的项目</a:t>
            </a:r>
            <a:endParaRPr lang="zh-CN" altLang="en-US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noProof="1">
                <a:latin typeface="+mn-lt"/>
                <a:ea typeface="+mn-ea"/>
                <a:cs typeface="+mn-ea"/>
                <a:sym typeface="+mn-lt"/>
              </a:rPr>
              <a:t>参与者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：通过点击项目星标</a:t>
            </a:r>
            <a:r>
              <a:rPr lang="zh-CN" altLang="en-US" noProof="1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★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进行投票（最多投</a:t>
            </a:r>
            <a:r>
              <a:rPr lang="en-US" altLang="zh-CN" noProof="1"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票给</a:t>
            </a:r>
            <a:r>
              <a:rPr lang="en-US" altLang="zh-CN" noProof="1"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个不同的创意）</a:t>
            </a:r>
            <a:endParaRPr lang="en-US" altLang="zh-CN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noProof="1">
                <a:latin typeface="+mn-lt"/>
                <a:ea typeface="+mn-ea"/>
                <a:cs typeface="+mn-ea"/>
                <a:sym typeface="+mn-lt"/>
              </a:rPr>
              <a:t>活动官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：投票结束后，点击需要转换为项目的创意，弹出提示框“是否转换成项目”</a:t>
            </a:r>
            <a:r>
              <a:rPr lang="zh-CN" altLang="en-US" noProof="1">
                <a:cs typeface="+mn-ea"/>
                <a:sym typeface="+mn-lt"/>
              </a:rPr>
              <a:t>，选“是”，将选中的创意</a:t>
            </a:r>
            <a:r>
              <a:rPr lang="zh-CN" altLang="en-US" b="1" noProof="1">
                <a:cs typeface="+mn-ea"/>
                <a:sym typeface="+mn-lt"/>
              </a:rPr>
              <a:t>一键转换成项目</a:t>
            </a:r>
            <a:r>
              <a:rPr lang="zh-CN" altLang="en-US" noProof="1">
                <a:cs typeface="+mn-ea"/>
                <a:sym typeface="+mn-lt"/>
              </a:rPr>
              <a:t>。</a:t>
            </a:r>
            <a:endParaRPr lang="en-US" altLang="zh-CN" noProof="1"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endParaRPr lang="en-US" altLang="zh-CN" noProof="1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718148" y="980728"/>
            <a:ext cx="4752528" cy="1008112"/>
            <a:chOff x="3718149" y="1844824"/>
            <a:chExt cx="4752528" cy="1008112"/>
          </a:xfrm>
        </p:grpSpPr>
        <p:sp>
          <p:nvSpPr>
            <p:cNvPr id="5" name="矩形 4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42185" y="1844824"/>
              <a:ext cx="4104456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3600" b="1" dirty="0">
                  <a:solidFill>
                    <a:schemeClr val="bg1"/>
                  </a:solidFill>
                </a:rPr>
                <a:t>创意投票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圆角矩形 12"/>
          <p:cNvSpPr/>
          <p:nvPr/>
        </p:nvSpPr>
        <p:spPr>
          <a:xfrm>
            <a:off x="9479372" y="2276872"/>
            <a:ext cx="720080" cy="360040"/>
          </a:xfrm>
          <a:prstGeom prst="roundRect">
            <a:avLst/>
          </a:prstGeom>
          <a:noFill/>
          <a:ln w="38100">
            <a:solidFill>
              <a:srgbClr val="FFC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718148" y="980728"/>
            <a:ext cx="4752528" cy="1008112"/>
            <a:chOff x="3718149" y="1844824"/>
            <a:chExt cx="4752528" cy="1008112"/>
          </a:xfrm>
        </p:grpSpPr>
        <p:sp>
          <p:nvSpPr>
            <p:cNvPr id="6" name="矩形 5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042185" y="1844824"/>
              <a:ext cx="4104456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3600" b="1" dirty="0">
                  <a:solidFill>
                    <a:schemeClr val="bg1"/>
                  </a:solidFill>
                </a:rPr>
                <a:t>在线组队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内容占位符 2"/>
          <p:cNvSpPr txBox="1"/>
          <p:nvPr/>
        </p:nvSpPr>
        <p:spPr>
          <a:xfrm>
            <a:off x="693812" y="2780928"/>
            <a:ext cx="7524836" cy="3024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anose="020B0604020202090204" pitchFamily="34" charset="0"/>
              <a:buChar char="▪"/>
              <a:defRPr sz="2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575945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8045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0331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2617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4903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475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761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90204" pitchFamily="34" charset="0"/>
              <a:buNone/>
            </a:pP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通过小程序完成在线组队</a:t>
            </a:r>
            <a:endParaRPr lang="en-US" altLang="zh-CN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noProof="1">
                <a:latin typeface="+mn-lt"/>
                <a:ea typeface="+mn-ea"/>
                <a:cs typeface="+mn-ea"/>
                <a:sym typeface="+mn-lt"/>
              </a:rPr>
              <a:t>活动官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：打开“组队阶段</a:t>
            </a:r>
            <a:r>
              <a:rPr lang="zh-CN" altLang="en-US" noProof="1">
                <a:cs typeface="+mn-ea"/>
                <a:sym typeface="+mn-lt"/>
              </a:rPr>
              <a:t>”按钮</a:t>
            </a:r>
            <a:endParaRPr lang="en-US" altLang="zh-CN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noProof="1">
                <a:latin typeface="+mn-lt"/>
                <a:ea typeface="+mn-ea"/>
                <a:cs typeface="+mn-ea"/>
                <a:sym typeface="+mn-lt"/>
              </a:rPr>
              <a:t>参与者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：组员可点击项目名称右侧</a:t>
            </a:r>
            <a:r>
              <a:rPr lang="zh-CN" altLang="en-US" noProof="1">
                <a:solidFill>
                  <a:srgbClr val="92D050"/>
                </a:solidFill>
                <a:latin typeface="+mn-lt"/>
                <a:ea typeface="+mn-ea"/>
                <a:cs typeface="+mn-ea"/>
                <a:sym typeface="+mn-lt"/>
              </a:rPr>
              <a:t>绿色按钮</a:t>
            </a:r>
            <a:br>
              <a:rPr lang="en-US" altLang="zh-CN" noProof="1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自行报名参与项目；项目</a:t>
            </a:r>
            <a:r>
              <a:rPr lang="en-US" altLang="zh-CN" noProof="1">
                <a:latin typeface="+mn-lt"/>
                <a:ea typeface="+mn-ea"/>
                <a:cs typeface="+mn-ea"/>
                <a:sym typeface="+mn-lt"/>
              </a:rPr>
              <a:t>CEO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可接受或拒绝组员的加入申请（组员被拒绝后可重新申请加入其他项目）</a:t>
            </a:r>
            <a:endParaRPr lang="zh-CN" altLang="en-US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活动官：关闭“组队阶段”按钮，组队完成</a:t>
            </a:r>
            <a:endParaRPr lang="zh-CN" altLang="en-US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endParaRPr lang="zh-CN" altLang="en-US" noProof="1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"/>
          <a:stretch>
            <a:fillRect/>
          </a:stretch>
        </p:blipFill>
        <p:spPr>
          <a:xfrm>
            <a:off x="8902723" y="980728"/>
            <a:ext cx="2664297" cy="5695636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406780" y="1340768"/>
            <a:ext cx="720080" cy="360040"/>
          </a:xfrm>
          <a:prstGeom prst="roundRect">
            <a:avLst/>
          </a:prstGeom>
          <a:noFill/>
          <a:ln w="38100">
            <a:solidFill>
              <a:srgbClr val="FFC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0702924" y="2996952"/>
            <a:ext cx="720080" cy="360040"/>
          </a:xfrm>
          <a:prstGeom prst="roundRect">
            <a:avLst/>
          </a:prstGeom>
          <a:noFill/>
          <a:ln w="38100">
            <a:solidFill>
              <a:srgbClr val="FFC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25" t="37854" r="9459" b="56065"/>
          <a:stretch>
            <a:fillRect/>
          </a:stretch>
        </p:blipFill>
        <p:spPr>
          <a:xfrm>
            <a:off x="7174532" y="3681028"/>
            <a:ext cx="648072" cy="540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"/>
          <a:stretch>
            <a:fillRect/>
          </a:stretch>
        </p:blipFill>
        <p:spPr>
          <a:xfrm>
            <a:off x="8818099" y="188640"/>
            <a:ext cx="3086100" cy="659735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3718149" y="980728"/>
            <a:ext cx="4752528" cy="1008112"/>
            <a:chOff x="3718149" y="1844824"/>
            <a:chExt cx="4752528" cy="1008112"/>
          </a:xfrm>
        </p:grpSpPr>
        <p:sp>
          <p:nvSpPr>
            <p:cNvPr id="6" name="矩形 5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042185" y="1844824"/>
              <a:ext cx="4104456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3600" b="1" dirty="0">
                  <a:solidFill>
                    <a:schemeClr val="bg1"/>
                  </a:solidFill>
                </a:rPr>
                <a:t>线下组队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内容占位符 2"/>
          <p:cNvSpPr txBox="1"/>
          <p:nvPr/>
        </p:nvSpPr>
        <p:spPr>
          <a:xfrm>
            <a:off x="693812" y="2780928"/>
            <a:ext cx="7524836" cy="3024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anose="020B0604020202090204" pitchFamily="34" charset="0"/>
              <a:buChar char="▪"/>
              <a:defRPr sz="2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575945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8045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0331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2617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4903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475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anose="020B0609020204030204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7614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anose="020B060402020209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90204" pitchFamily="34" charset="0"/>
              <a:buNone/>
            </a:pP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现场完成线下组队</a:t>
            </a:r>
            <a:endParaRPr lang="en-US" altLang="zh-CN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noProof="1">
                <a:latin typeface="+mn-lt"/>
                <a:ea typeface="+mn-ea"/>
                <a:cs typeface="+mn-ea"/>
                <a:sym typeface="+mn-lt"/>
              </a:rPr>
              <a:t>项目</a:t>
            </a:r>
            <a:r>
              <a:rPr lang="en-US" altLang="zh-CN" b="1" noProof="1">
                <a:latin typeface="+mn-lt"/>
                <a:ea typeface="+mn-ea"/>
                <a:cs typeface="+mn-ea"/>
                <a:sym typeface="+mn-lt"/>
              </a:rPr>
              <a:t>CEO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：点击 </a:t>
            </a:r>
            <a:r>
              <a:rPr lang="en-US" altLang="zh-CN" noProof="1">
                <a:latin typeface="+mn-lt"/>
                <a:ea typeface="+mn-ea"/>
                <a:cs typeface="+mn-ea"/>
                <a:sym typeface="+mn-lt"/>
              </a:rPr>
              <a:t>[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项目成员</a:t>
            </a:r>
            <a:r>
              <a:rPr lang="en-US" altLang="zh-CN" noProof="1">
                <a:latin typeface="+mn-lt"/>
                <a:ea typeface="+mn-ea"/>
                <a:cs typeface="+mn-ea"/>
                <a:sym typeface="+mn-lt"/>
              </a:rPr>
              <a:t>] 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模块右侧 </a:t>
            </a:r>
            <a:r>
              <a:rPr lang="en-US" altLang="zh-CN" noProof="1">
                <a:latin typeface="+mn-lt"/>
                <a:ea typeface="+mn-ea"/>
                <a:cs typeface="+mn-ea"/>
                <a:sym typeface="+mn-lt"/>
              </a:rPr>
              <a:t>+ 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号，弹出添加组员二维码</a:t>
            </a:r>
            <a:endParaRPr lang="zh-CN" altLang="en-US" noProof="1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noProof="1">
                <a:latin typeface="+mn-lt"/>
                <a:ea typeface="+mn-ea"/>
                <a:cs typeface="+mn-ea"/>
                <a:sym typeface="+mn-lt"/>
              </a:rPr>
              <a:t>项目成员</a:t>
            </a:r>
            <a:r>
              <a:rPr lang="zh-CN" altLang="en-US" noProof="1">
                <a:latin typeface="+mn-lt"/>
                <a:ea typeface="+mn-ea"/>
                <a:cs typeface="+mn-ea"/>
                <a:sym typeface="+mn-lt"/>
              </a:rPr>
              <a:t>：扫描该二维码即可立即加入该项目团队</a:t>
            </a:r>
            <a:endParaRPr lang="zh-CN" altLang="en-US" noProof="1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849186" y="4113076"/>
            <a:ext cx="845625" cy="360040"/>
          </a:xfrm>
          <a:prstGeom prst="roundRect">
            <a:avLst/>
          </a:prstGeom>
          <a:noFill/>
          <a:ln w="38100">
            <a:solidFill>
              <a:srgbClr val="FFC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1215206" y="4113076"/>
            <a:ext cx="720080" cy="360040"/>
          </a:xfrm>
          <a:prstGeom prst="roundRect">
            <a:avLst/>
          </a:prstGeom>
          <a:noFill/>
          <a:ln w="38100">
            <a:solidFill>
              <a:srgbClr val="FFC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195522" y="2347476"/>
            <a:ext cx="4752528" cy="3384376"/>
          </a:xfrm>
          <a:prstGeom prst="rect">
            <a:avLst/>
          </a:prstGeom>
          <a:solidFill>
            <a:schemeClr val="tx1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组成一支梦之队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09837" y="2334365"/>
            <a:ext cx="598864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400" b="1" dirty="0"/>
              <a:t>目标：</a:t>
            </a:r>
            <a:r>
              <a:rPr lang="zh-CN" altLang="en-US" sz="2400" dirty="0"/>
              <a:t>进行团队建设与角色分工</a:t>
            </a:r>
            <a:endParaRPr lang="en-US" altLang="zh-CN" sz="2400" dirty="0"/>
          </a:p>
          <a:p>
            <a:pPr>
              <a:spcBef>
                <a:spcPts val="1200"/>
              </a:spcBef>
            </a:pPr>
            <a:r>
              <a:rPr lang="zh-CN" altLang="en-US" sz="2400" b="1" dirty="0"/>
              <a:t>产出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800100" lvl="1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共创：团队名称和口号</a:t>
            </a:r>
            <a:endParaRPr lang="zh-CN" altLang="en-US" sz="2400" dirty="0"/>
          </a:p>
          <a:p>
            <a:pPr marL="800100" lvl="1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选举三大委员：军事委员（控时）、学习委员（输出）、生活委员（引流）</a:t>
            </a:r>
            <a:endParaRPr lang="zh-CN" altLang="en-US" sz="2400" dirty="0"/>
          </a:p>
          <a:p>
            <a:pPr marL="800100" lvl="1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zh-CN" sz="2400" dirty="0"/>
              <a:t>上传团队</a:t>
            </a:r>
            <a:r>
              <a:rPr lang="zh-CN" altLang="en-US" sz="2400" dirty="0"/>
              <a:t>在线合影</a:t>
            </a:r>
            <a:endParaRPr lang="en-US" altLang="zh-CN" sz="2400" dirty="0"/>
          </a:p>
          <a:p>
            <a:pPr marL="800100" lvl="1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图片下方填写队名和口号</a:t>
            </a:r>
            <a:endParaRPr lang="en-US" altLang="zh-CN" sz="2400" dirty="0"/>
          </a:p>
        </p:txBody>
      </p:sp>
      <p:grpSp>
        <p:nvGrpSpPr>
          <p:cNvPr id="6" name="组合 5"/>
          <p:cNvGrpSpPr/>
          <p:nvPr/>
        </p:nvGrpSpPr>
        <p:grpSpPr>
          <a:xfrm>
            <a:off x="981844" y="1196752"/>
            <a:ext cx="3240000" cy="792088"/>
            <a:chOff x="3718149" y="1844824"/>
            <a:chExt cx="4752528" cy="1008112"/>
          </a:xfrm>
        </p:grpSpPr>
        <p:sp>
          <p:nvSpPr>
            <p:cNvPr id="7" name="矩形 6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718149" y="1844824"/>
              <a:ext cx="4752527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</a:rPr>
                <a:t>一、完成组队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t="14536" r="5538"/>
          <a:stretch>
            <a:fillRect/>
          </a:stretch>
        </p:blipFill>
        <p:spPr>
          <a:xfrm>
            <a:off x="7555562" y="2632978"/>
            <a:ext cx="4095443" cy="209134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7555562" y="4867756"/>
            <a:ext cx="4095443" cy="5760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创业梦之队：</a:t>
            </a:r>
            <a:r>
              <a:rPr lang="en-US" altLang="zh-CN" dirty="0">
                <a:solidFill>
                  <a:schemeClr val="bg1"/>
                </a:solidFill>
              </a:rPr>
              <a:t>Let’s be crazy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652" y="343034"/>
            <a:ext cx="3693398" cy="1008112"/>
          </a:xfrm>
          <a:prstGeom prst="rect">
            <a:avLst/>
          </a:prstGeom>
        </p:spPr>
      </p:pic>
      <p:pic>
        <p:nvPicPr>
          <p:cNvPr id="9" name="Picture 2" descr="查看源图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1" b="89844" l="9766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875" y="115274"/>
            <a:ext cx="446314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圆角矩形 10"/>
          <p:cNvSpPr/>
          <p:nvPr/>
        </p:nvSpPr>
        <p:spPr>
          <a:xfrm>
            <a:off x="7390556" y="4869160"/>
            <a:ext cx="4464496" cy="574660"/>
          </a:xfrm>
          <a:prstGeom prst="roundRect">
            <a:avLst/>
          </a:prstGeom>
          <a:noFill/>
          <a:ln w="38100">
            <a:solidFill>
              <a:srgbClr val="FFC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C000"/>
                </a:solidFill>
              </a:rPr>
              <a:t>填写</a:t>
            </a:r>
            <a:r>
              <a:rPr lang="zh-CN" altLang="en-US" dirty="0">
                <a:solidFill>
                  <a:srgbClr val="FFC000"/>
                </a:solidFill>
              </a:rPr>
              <a:t>：</a:t>
            </a:r>
            <a:endParaRPr lang="zh-CN" altLang="en-US" dirty="0">
              <a:solidFill>
                <a:srgbClr val="FFC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495" y="5085080"/>
            <a:ext cx="1919605" cy="1249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246" y="764704"/>
            <a:ext cx="3000398" cy="6042468"/>
          </a:xfrm>
          <a:prstGeom prst="rect">
            <a:avLst/>
          </a:prstGeom>
        </p:spPr>
      </p:pic>
      <p:sp>
        <p:nvSpPr>
          <p:cNvPr id="17411" name="文本框 2"/>
          <p:cNvSpPr txBox="1">
            <a:spLocks noChangeArrowheads="1"/>
          </p:cNvSpPr>
          <p:nvPr/>
        </p:nvSpPr>
        <p:spPr bwMode="auto">
          <a:xfrm>
            <a:off x="765820" y="2244217"/>
            <a:ext cx="554369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创建项目后，根据流程完成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9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项任务，每项完成后点亮为彩色</a:t>
            </a:r>
            <a:endParaRPr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endParaRPr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上传照片和文字总结（选填）即成功，每成功一项得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10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分，点击右下角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?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看示例图片</a:t>
            </a:r>
            <a:endParaRPr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endParaRPr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项目路演后请观众评论（每条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分）和导师打分，力争达到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100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分。</a:t>
            </a:r>
            <a:endParaRPr lang="zh-CN" altLang="en-US" sz="24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323652" y="764704"/>
            <a:ext cx="4752528" cy="1008112"/>
            <a:chOff x="3718149" y="1844824"/>
            <a:chExt cx="4752528" cy="1008112"/>
          </a:xfrm>
        </p:grpSpPr>
        <p:sp>
          <p:nvSpPr>
            <p:cNvPr id="6" name="矩形 5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042185" y="1844824"/>
              <a:ext cx="4104456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3600" b="1" dirty="0">
                  <a:solidFill>
                    <a:schemeClr val="bg1"/>
                  </a:solidFill>
                </a:rPr>
                <a:t>小程序操作说明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椭圆 8"/>
          <p:cNvSpPr/>
          <p:nvPr/>
        </p:nvSpPr>
        <p:spPr>
          <a:xfrm>
            <a:off x="9262764" y="4032491"/>
            <a:ext cx="575733" cy="4942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558908" y="3402449"/>
            <a:ext cx="1440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sz="2400" dirty="0"/>
              <a:t>先点问号查看示例</a:t>
            </a:r>
            <a:endParaRPr kumimoji="1" lang="en-US" altLang="zh-CN" sz="2400" dirty="0"/>
          </a:p>
          <a:p>
            <a:pPr>
              <a:lnSpc>
                <a:spcPct val="90000"/>
              </a:lnSpc>
            </a:pPr>
            <a:endParaRPr kumimoji="1" lang="en-US" altLang="zh-CN" sz="2400" dirty="0"/>
          </a:p>
          <a:p>
            <a:pPr>
              <a:lnSpc>
                <a:spcPct val="90000"/>
              </a:lnSpc>
            </a:pPr>
            <a:r>
              <a:rPr kumimoji="1" lang="zh-CN" altLang="en-US" sz="2400" dirty="0"/>
              <a:t>再独立思</a:t>
            </a:r>
            <a:endParaRPr kumimoji="1" lang="en-US" altLang="zh-CN" sz="2400" dirty="0"/>
          </a:p>
          <a:p>
            <a:pPr>
              <a:lnSpc>
                <a:spcPct val="90000"/>
              </a:lnSpc>
            </a:pPr>
            <a:r>
              <a:rPr kumimoji="1" lang="zh-CN" altLang="en-US" sz="2400" dirty="0"/>
              <a:t>考作答</a:t>
            </a:r>
            <a:endParaRPr kumimoji="1" lang="zh-CN" altLang="en-US" sz="2400" dirty="0"/>
          </a:p>
        </p:txBody>
      </p:sp>
      <p:cxnSp>
        <p:nvCxnSpPr>
          <p:cNvPr id="10" name="直线箭头连接符 9"/>
          <p:cNvCxnSpPr>
            <a:stCxn id="9" idx="6"/>
          </p:cNvCxnSpPr>
          <p:nvPr/>
        </p:nvCxnSpPr>
        <p:spPr>
          <a:xfrm>
            <a:off x="9838497" y="4279612"/>
            <a:ext cx="720411" cy="0"/>
          </a:xfrm>
          <a:prstGeom prst="straightConnector1">
            <a:avLst/>
          </a:prstGeom>
          <a:ln w="25400">
            <a:solidFill>
              <a:srgbClr val="FF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hlinkClick r:id="rId2" action="ppaction://hlinkfile"/>
          </p:cNvPr>
          <p:cNvSpPr txBox="1"/>
          <p:nvPr/>
        </p:nvSpPr>
        <p:spPr>
          <a:xfrm>
            <a:off x="1197868" y="5862527"/>
            <a:ext cx="4185761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C000"/>
                </a:solidFill>
              </a:rPr>
              <a:t>点击观看火种节使用方法视频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  <p:pic>
        <p:nvPicPr>
          <p:cNvPr id="12" name="图片 11" descr="32303230323036383b32303231303232373bcad6b5e3bbf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209" y="6026644"/>
            <a:ext cx="594840" cy="594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6310436" y="1557239"/>
            <a:ext cx="4896544" cy="4032448"/>
            <a:chOff x="963843" y="1628800"/>
            <a:chExt cx="4896544" cy="4032448"/>
          </a:xfrm>
        </p:grpSpPr>
        <p:sp>
          <p:nvSpPr>
            <p:cNvPr id="6" name="矩形 5"/>
            <p:cNvSpPr/>
            <p:nvPr/>
          </p:nvSpPr>
          <p:spPr>
            <a:xfrm>
              <a:off x="963843" y="1628800"/>
              <a:ext cx="4896544" cy="40324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    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   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   </a:t>
              </a: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杜绝一上来就讨论：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   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集体讨论不利于创新并且不高效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    </a:t>
              </a: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在一起独立工作</a:t>
              </a:r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：</a:t>
              </a:r>
              <a:endParaRPr lang="en-US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bg1"/>
                  </a:solidFill>
                  <a:cs typeface="+mn-ea"/>
                  <a:sym typeface="+mn-lt"/>
                </a:rPr>
                <a:t>    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个人独立思考并书写 </a:t>
              </a: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–&gt; 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阅读和讨论 </a:t>
              </a: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–&gt;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     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集体投票决策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315072" y="1973352"/>
              <a:ext cx="4192775" cy="663560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 队 如 何 高 效 合 作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81844" y="1557239"/>
            <a:ext cx="4896544" cy="4032448"/>
            <a:chOff x="6382444" y="1628800"/>
            <a:chExt cx="4896544" cy="4032448"/>
          </a:xfrm>
        </p:grpSpPr>
        <p:sp>
          <p:nvSpPr>
            <p:cNvPr id="8" name="矩形 7"/>
            <p:cNvSpPr/>
            <p:nvPr/>
          </p:nvSpPr>
          <p:spPr>
            <a:xfrm>
              <a:off x="6382444" y="1628800"/>
              <a:ext cx="4896544" cy="40324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    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   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   </a:t>
              </a: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目标 </a:t>
              </a: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Objective</a:t>
              </a: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：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   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示例：我要跑马拉松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    产出 </a:t>
              </a: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Key Results</a:t>
              </a:r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：</a:t>
              </a:r>
              <a:endParaRPr lang="en-US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    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明确 </a:t>
              </a: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SMART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 的“关键结果”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    示例：我每天早上</a:t>
              </a: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9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点前跑</a:t>
              </a: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5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公里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endParaRPr lang="en-US" altLang="zh-CN" sz="12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733673" y="1973352"/>
              <a:ext cx="4192775" cy="663560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OKR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 作 法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9836" y="764704"/>
            <a:ext cx="1044116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endParaRPr lang="en-US" altLang="zh-CN" sz="2400" dirty="0"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目标：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发散</a:t>
            </a:r>
            <a:r>
              <a:rPr lang="zh-CN" altLang="en-US" sz="2400" dirty="0">
                <a:cs typeface="+mn-ea"/>
                <a:sym typeface="+mn-lt"/>
              </a:rPr>
              <a:t>探索客户需求的各种可能性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产出：</a:t>
            </a:r>
            <a:endParaRPr lang="en-US" altLang="zh-CN" sz="2400" b="1" dirty="0">
              <a:cs typeface="+mn-ea"/>
              <a:sym typeface="+mn-lt"/>
            </a:endParaRPr>
          </a:p>
          <a:p>
            <a:pPr marL="342900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个人头脑风暴，思考并写下：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cs typeface="+mn-ea"/>
                <a:sym typeface="+mn-lt"/>
              </a:rPr>
              <a:t>    </a:t>
            </a:r>
            <a:r>
              <a:rPr lang="zh-CN" altLang="en-US" sz="2400" dirty="0">
                <a:cs typeface="+mn-ea"/>
                <a:sym typeface="+mn-lt"/>
              </a:rPr>
              <a:t>客户画像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cs typeface="+mn-ea"/>
                <a:sym typeface="+mn-lt"/>
              </a:rPr>
              <a:t>    </a:t>
            </a:r>
            <a:r>
              <a:rPr lang="zh-CN" altLang="en-US" sz="2400" dirty="0">
                <a:cs typeface="+mn-ea"/>
                <a:sym typeface="+mn-lt"/>
              </a:rPr>
              <a:t>痛点问题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cs typeface="+mn-ea"/>
                <a:sym typeface="+mn-lt"/>
              </a:rPr>
              <a:t>    </a:t>
            </a:r>
            <a:r>
              <a:rPr lang="zh-CN" altLang="en-US" sz="2400" dirty="0">
                <a:cs typeface="+mn-ea"/>
                <a:sym typeface="+mn-lt"/>
              </a:rPr>
              <a:t>场景</a:t>
            </a:r>
            <a:endParaRPr lang="en-US" altLang="zh-CN" sz="2400" dirty="0"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81843" y="1196752"/>
            <a:ext cx="3240000" cy="792088"/>
            <a:chOff x="3718149" y="1844824"/>
            <a:chExt cx="4912812" cy="1008112"/>
          </a:xfrm>
        </p:grpSpPr>
        <p:sp>
          <p:nvSpPr>
            <p:cNvPr id="7" name="矩形 6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718149" y="1844824"/>
              <a:ext cx="4912812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</a:rPr>
                <a:t>二、理解需求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6546253" y="3058089"/>
            <a:ext cx="4608512" cy="855891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618261" y="4221088"/>
            <a:ext cx="4804743" cy="1800200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客户恐惧、不爽、愿意花钱解决的问题</a:t>
            </a:r>
            <a:endParaRPr lang="en-US" altLang="zh-CN" sz="20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一聊就有共鸣，一看有产品就想买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23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7290" y="2299325"/>
            <a:ext cx="4782421" cy="33939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6690269" y="2443341"/>
            <a:ext cx="2088232" cy="1777747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602051" y="2443341"/>
            <a:ext cx="2032434" cy="1731623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客户画像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/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有共同特点、相似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痛点的一群人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897067" y="2443340"/>
            <a:ext cx="2032434" cy="1731623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痛点问题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/>
            <a:endParaRPr lang="en-US" altLang="zh-CN" sz="1000" dirty="0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客户恐惧、不爽、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愿意花钱解决的问题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618261" y="4411228"/>
            <a:ext cx="4311240" cy="1128457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场景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/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客户痛点最强烈的时间、空间、情景互动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652" y="343034"/>
            <a:ext cx="3693398" cy="1008112"/>
          </a:xfrm>
          <a:prstGeom prst="rect">
            <a:avLst/>
          </a:prstGeom>
        </p:spPr>
      </p:pic>
      <p:pic>
        <p:nvPicPr>
          <p:cNvPr id="11" name="Picture 2" descr="查看源图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1" b="89844" l="9766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502" y="115274"/>
            <a:ext cx="446314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9836" y="764704"/>
            <a:ext cx="1044116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endParaRPr lang="en-US" altLang="zh-CN" sz="2400" dirty="0"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目标：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收敛</a:t>
            </a:r>
            <a:r>
              <a:rPr lang="zh-CN" altLang="en-US" sz="2400" dirty="0">
                <a:cs typeface="+mn-ea"/>
                <a:sym typeface="+mn-lt"/>
              </a:rPr>
              <a:t>确定客户需求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产出：</a:t>
            </a:r>
            <a:endParaRPr lang="en-US" altLang="zh-CN" sz="2400" b="1" dirty="0">
              <a:cs typeface="+mn-ea"/>
              <a:sym typeface="+mn-lt"/>
            </a:endParaRPr>
          </a:p>
          <a:p>
            <a:pPr marL="342900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团队投票，选出最佳选项：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cs typeface="+mn-ea"/>
                <a:sym typeface="+mn-lt"/>
              </a:rPr>
              <a:t>    </a:t>
            </a:r>
            <a:r>
              <a:rPr lang="zh-CN" altLang="en-US" sz="2400" dirty="0">
                <a:cs typeface="+mn-ea"/>
                <a:sym typeface="+mn-lt"/>
              </a:rPr>
              <a:t>客户画像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cs typeface="+mn-ea"/>
                <a:sym typeface="+mn-lt"/>
              </a:rPr>
              <a:t>    </a:t>
            </a:r>
            <a:r>
              <a:rPr lang="zh-CN" altLang="en-US" sz="2400" dirty="0">
                <a:cs typeface="+mn-ea"/>
                <a:sym typeface="+mn-lt"/>
              </a:rPr>
              <a:t>痛点问题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cs typeface="+mn-ea"/>
                <a:sym typeface="+mn-lt"/>
              </a:rPr>
              <a:t>    </a:t>
            </a:r>
            <a:r>
              <a:rPr lang="zh-CN" altLang="en-US" sz="2400" dirty="0">
                <a:cs typeface="+mn-ea"/>
                <a:sym typeface="+mn-lt"/>
              </a:rPr>
              <a:t>场景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81844" y="1196752"/>
            <a:ext cx="3240000" cy="792088"/>
            <a:chOff x="3671518" y="1844824"/>
            <a:chExt cx="4799159" cy="1008112"/>
          </a:xfrm>
        </p:grpSpPr>
        <p:sp>
          <p:nvSpPr>
            <p:cNvPr id="7" name="矩形 6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671518" y="1844824"/>
              <a:ext cx="4799159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</a:rPr>
                <a:t>三、定义需求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232711" y="2276872"/>
            <a:ext cx="5035714" cy="3721963"/>
            <a:chOff x="6223481" y="1988840"/>
            <a:chExt cx="5035714" cy="3721963"/>
          </a:xfrm>
        </p:grpSpPr>
        <p:sp>
          <p:nvSpPr>
            <p:cNvPr id="10" name="矩形 9"/>
            <p:cNvSpPr/>
            <p:nvPr/>
          </p:nvSpPr>
          <p:spPr>
            <a:xfrm>
              <a:off x="6382444" y="2747604"/>
              <a:ext cx="4608512" cy="855891"/>
            </a:xfrm>
            <a:prstGeom prst="rect">
              <a:avLst/>
            </a:prstGeom>
            <a:noFill/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10000"/>
                </a:lnSpc>
              </a:pPr>
              <a:endParaRPr lang="zh-CN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454452" y="3910603"/>
              <a:ext cx="4804743" cy="1800200"/>
            </a:xfrm>
            <a:prstGeom prst="rect">
              <a:avLst/>
            </a:prstGeom>
            <a:noFill/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bg1"/>
                  </a:solidFill>
                </a:rPr>
                <a:t>客户恐惧、不爽、愿意花钱解决的问题</a:t>
              </a:r>
              <a:endParaRPr lang="en-US" altLang="zh-CN" sz="2000" dirty="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bg1"/>
                  </a:solidFill>
                </a:rPr>
                <a:t>一聊就有共鸣，一看有产品就想买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  <p:pic>
          <p:nvPicPr>
            <p:cNvPr id="12" name="图像" descr="图像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223481" y="1988840"/>
              <a:ext cx="4782421" cy="3393976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13" name="矩形 12"/>
            <p:cNvSpPr/>
            <p:nvPr/>
          </p:nvSpPr>
          <p:spPr>
            <a:xfrm>
              <a:off x="6526460" y="2132856"/>
              <a:ext cx="2088232" cy="1777747"/>
            </a:xfrm>
            <a:prstGeom prst="rect">
              <a:avLst/>
            </a:prstGeom>
            <a:noFill/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438242" y="2132856"/>
              <a:ext cx="2032434" cy="1731623"/>
            </a:xfrm>
            <a:prstGeom prst="rect">
              <a:avLst/>
            </a:prstGeom>
            <a:solidFill>
              <a:schemeClr val="tx1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</a:rPr>
                <a:t>客户画像</a:t>
              </a:r>
              <a:endParaRPr lang="en-US" altLang="zh-CN" sz="2400" b="1" dirty="0">
                <a:solidFill>
                  <a:schemeClr val="bg1"/>
                </a:solidFill>
              </a:endParaRPr>
            </a:p>
            <a:p>
              <a:pPr algn="ctr"/>
              <a:endParaRPr lang="en-US" altLang="zh-CN" sz="1000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1600" dirty="0">
                  <a:solidFill>
                    <a:schemeClr val="bg1"/>
                  </a:solidFill>
                </a:rPr>
                <a:t>一找就找到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8733258" y="2132855"/>
              <a:ext cx="2032434" cy="1731623"/>
            </a:xfrm>
            <a:prstGeom prst="rect">
              <a:avLst/>
            </a:prstGeom>
            <a:solidFill>
              <a:schemeClr val="tx1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</a:rPr>
                <a:t>痛点问题</a:t>
              </a:r>
              <a:endParaRPr lang="en-US" altLang="zh-CN" sz="2400" b="1" dirty="0">
                <a:solidFill>
                  <a:schemeClr val="bg1"/>
                </a:solidFill>
              </a:endParaRPr>
            </a:p>
            <a:p>
              <a:pPr algn="ctr"/>
              <a:endParaRPr lang="en-US" altLang="zh-CN" sz="1000" dirty="0">
                <a:solidFill>
                  <a:schemeClr val="bg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/>
                  </a:solidFill>
                </a:rPr>
                <a:t>一聊就开心</a:t>
              </a:r>
              <a:endParaRPr lang="en-US" altLang="zh-CN" sz="1600" dirty="0">
                <a:solidFill>
                  <a:schemeClr val="bg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454452" y="4100743"/>
              <a:ext cx="4311240" cy="1128457"/>
            </a:xfrm>
            <a:prstGeom prst="rect">
              <a:avLst/>
            </a:prstGeom>
            <a:solidFill>
              <a:schemeClr val="tx1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</a:rPr>
                <a:t>场景</a:t>
              </a:r>
              <a:endParaRPr lang="en-US" altLang="zh-CN" sz="2400" b="1" dirty="0">
                <a:solidFill>
                  <a:schemeClr val="bg1"/>
                </a:solidFill>
              </a:endParaRPr>
            </a:p>
            <a:p>
              <a:pPr algn="ctr"/>
              <a:endParaRPr lang="en-US" altLang="zh-CN" sz="1000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1600" dirty="0">
                  <a:solidFill>
                    <a:schemeClr val="bg1"/>
                  </a:solidFill>
                </a:rPr>
                <a:t>一看就想买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652" y="343034"/>
            <a:ext cx="3693398" cy="1008112"/>
          </a:xfrm>
          <a:prstGeom prst="rect">
            <a:avLst/>
          </a:prstGeom>
        </p:spPr>
      </p:pic>
      <p:pic>
        <p:nvPicPr>
          <p:cNvPr id="4" name="Picture 2" descr="查看源图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1" b="89844" l="9766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474" y="115274"/>
            <a:ext cx="446314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13210" y="764704"/>
            <a:ext cx="1036240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endParaRPr lang="en-US" altLang="zh-CN" sz="2400" dirty="0"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目标：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发散</a:t>
            </a:r>
            <a:r>
              <a:rPr lang="zh-CN" altLang="en-US" sz="2400" dirty="0">
                <a:cs typeface="+mn-ea"/>
                <a:sym typeface="+mn-lt"/>
              </a:rPr>
              <a:t>思考产品类型与内容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产出：</a:t>
            </a:r>
            <a:endParaRPr lang="en-US" altLang="zh-CN" sz="2400" b="1" dirty="0">
              <a:cs typeface="+mn-ea"/>
              <a:sym typeface="+mn-lt"/>
            </a:endParaRPr>
          </a:p>
          <a:p>
            <a:pPr marL="342900" lvl="1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用疯狂小八，激发头脑风暴</a:t>
            </a:r>
            <a:endParaRPr lang="en-US" altLang="zh-CN" sz="2400" dirty="0">
              <a:cs typeface="+mn-ea"/>
              <a:sym typeface="+mn-lt"/>
            </a:endParaRPr>
          </a:p>
          <a:p>
            <a:pPr marL="342900" lvl="1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创意越多越好，只收集不批评</a:t>
            </a:r>
            <a:endParaRPr lang="en-US" altLang="zh-CN" sz="2400" dirty="0"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81844" y="1196752"/>
            <a:ext cx="3240000" cy="792088"/>
            <a:chOff x="3557864" y="1844824"/>
            <a:chExt cx="4912813" cy="1008112"/>
          </a:xfrm>
        </p:grpSpPr>
        <p:sp>
          <p:nvSpPr>
            <p:cNvPr id="7" name="矩形 6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557864" y="1844824"/>
              <a:ext cx="4912813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</a:rPr>
                <a:t>四、发散方案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 2"/>
          <p:cNvGrpSpPr/>
          <p:nvPr/>
        </p:nvGrpSpPr>
        <p:grpSpPr>
          <a:xfrm>
            <a:off x="1341884" y="4640335"/>
            <a:ext cx="4208883" cy="1872208"/>
            <a:chOff x="433275" y="1648289"/>
            <a:chExt cx="8613465" cy="3770918"/>
          </a:xfrm>
        </p:grpSpPr>
        <p:pic>
          <p:nvPicPr>
            <p:cNvPr id="21" name="图片 1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287"/>
            <a:stretch>
              <a:fillRect/>
            </a:stretch>
          </p:blipFill>
          <p:spPr bwMode="auto">
            <a:xfrm>
              <a:off x="433275" y="1648289"/>
              <a:ext cx="8253425" cy="3770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图片 21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6828"/>
            <a:stretch>
              <a:fillRect/>
            </a:stretch>
          </p:blipFill>
          <p:spPr bwMode="auto">
            <a:xfrm>
              <a:off x="8686700" y="1648289"/>
              <a:ext cx="360040" cy="3770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460" y="2780928"/>
            <a:ext cx="5335240" cy="374533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652" y="343034"/>
            <a:ext cx="3693398" cy="1008112"/>
          </a:xfrm>
          <a:prstGeom prst="rect">
            <a:avLst/>
          </a:prstGeom>
        </p:spPr>
      </p:pic>
      <p:pic>
        <p:nvPicPr>
          <p:cNvPr id="9" name="Picture 2" descr="查看源图像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1" b="89844" l="9766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796" y="115274"/>
            <a:ext cx="446314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9836" y="764704"/>
            <a:ext cx="5624311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endParaRPr lang="en-US" altLang="zh-CN" sz="2400" dirty="0"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/>
              <a:t>目标：</a:t>
            </a:r>
            <a:r>
              <a:rPr lang="zh-CN" altLang="en-US" sz="2400" b="1" dirty="0">
                <a:solidFill>
                  <a:srgbClr val="FF0000"/>
                </a:solidFill>
              </a:rPr>
              <a:t>收敛</a:t>
            </a:r>
            <a:r>
              <a:rPr lang="zh-CN" altLang="en-US" sz="2400" dirty="0"/>
              <a:t>方案，用创新矩阵</a:t>
            </a:r>
            <a:r>
              <a:rPr lang="zh-CN" altLang="zh-CN" sz="2400" dirty="0"/>
              <a:t>选</a:t>
            </a:r>
            <a:r>
              <a:rPr lang="zh-CN" altLang="en-US" sz="2400" dirty="0"/>
              <a:t>出在第一象限的方案</a:t>
            </a:r>
            <a:endParaRPr lang="en-US" altLang="zh-CN" sz="2400" dirty="0"/>
          </a:p>
          <a:p>
            <a:pPr>
              <a:spcBef>
                <a:spcPts val="1200"/>
              </a:spcBef>
            </a:pPr>
            <a:r>
              <a:rPr lang="zh-CN" altLang="en-US" sz="2400" b="1" dirty="0"/>
              <a:t>产出：</a:t>
            </a:r>
            <a:r>
              <a:rPr lang="zh-CN" altLang="en-US" sz="2400" dirty="0"/>
              <a:t>逐一讨论并选出方案，协作完成</a:t>
            </a:r>
            <a:r>
              <a:rPr lang="zh-CN" altLang="zh-CN" sz="2400" dirty="0"/>
              <a:t>产品功能、</a:t>
            </a:r>
            <a:r>
              <a:rPr lang="zh-CN" altLang="en-US" sz="2400" dirty="0"/>
              <a:t>客户旅程</a:t>
            </a:r>
            <a:r>
              <a:rPr lang="zh-CN" altLang="zh-CN" sz="2400" dirty="0"/>
              <a:t>等设计</a:t>
            </a:r>
            <a:endParaRPr lang="en-US" altLang="zh-CN" sz="3200" dirty="0"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81844" y="1196752"/>
            <a:ext cx="3240000" cy="792088"/>
            <a:chOff x="3619425" y="1844824"/>
            <a:chExt cx="4851252" cy="1008112"/>
          </a:xfrm>
        </p:grpSpPr>
        <p:sp>
          <p:nvSpPr>
            <p:cNvPr id="7" name="矩形 6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619425" y="1844824"/>
              <a:ext cx="4851252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</a:rPr>
                <a:t>五、决定方案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814492" y="2132856"/>
            <a:ext cx="4527192" cy="3636851"/>
            <a:chOff x="6310436" y="1038014"/>
            <a:chExt cx="5068199" cy="3975162"/>
          </a:xfrm>
        </p:grpSpPr>
        <p:sp>
          <p:nvSpPr>
            <p:cNvPr id="3" name="矩形 2"/>
            <p:cNvSpPr/>
            <p:nvPr/>
          </p:nvSpPr>
          <p:spPr>
            <a:xfrm>
              <a:off x="6310436" y="1628800"/>
              <a:ext cx="4968552" cy="338437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6594682" y="3429000"/>
              <a:ext cx="4396274" cy="0"/>
            </a:xfrm>
            <a:prstGeom prst="straightConnector1">
              <a:avLst/>
            </a:prstGeom>
            <a:ln w="317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flipV="1">
              <a:off x="8758708" y="2199920"/>
              <a:ext cx="0" cy="2165770"/>
            </a:xfrm>
            <a:prstGeom prst="straightConnector1">
              <a:avLst/>
            </a:prstGeom>
            <a:ln w="317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8678887" y="1628799"/>
              <a:ext cx="1259140" cy="504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技术可行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938026" y="3428999"/>
              <a:ext cx="1268955" cy="504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需求强劲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9766372" y="1038014"/>
              <a:ext cx="1612263" cy="504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/>
                <a:t>创新矩阵</a:t>
              </a:r>
              <a:endParaRPr lang="zh-CN" altLang="en-US" sz="2400" b="1" dirty="0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4652" y="343034"/>
            <a:ext cx="3693398" cy="1008112"/>
          </a:xfrm>
          <a:prstGeom prst="rect">
            <a:avLst/>
          </a:prstGeom>
        </p:spPr>
      </p:pic>
      <p:pic>
        <p:nvPicPr>
          <p:cNvPr id="9" name="Picture 2" descr="查看源图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1" b="89844" l="9766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9265" y="115274"/>
            <a:ext cx="446314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9871399" y="3332157"/>
            <a:ext cx="622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Ink Free" panose="03080402000500000000" pitchFamily="66" charset="0"/>
              </a:rPr>
              <a:t>②</a:t>
            </a:r>
            <a:endParaRPr lang="zh-CN" altLang="en-US" dirty="0">
              <a:latin typeface="Ink Free" panose="03080402000500000000" pitchFamily="66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406224" y="3750107"/>
            <a:ext cx="622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Ink Free" panose="03080402000500000000" pitchFamily="66" charset="0"/>
              </a:rPr>
              <a:t>①</a:t>
            </a:r>
            <a:endParaRPr lang="zh-CN" altLang="en-US" dirty="0">
              <a:latin typeface="Ink Free" panose="03080402000500000000" pitchFamily="66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23886" y="3466645"/>
            <a:ext cx="622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Ink Free" panose="03080402000500000000" pitchFamily="66" charset="0"/>
              </a:rPr>
              <a:t>③</a:t>
            </a:r>
            <a:endParaRPr lang="zh-CN" altLang="en-US" dirty="0">
              <a:latin typeface="Ink Free" panose="03080402000500000000" pitchFamily="66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87382" y="4641300"/>
            <a:ext cx="622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Ink Free" panose="03080402000500000000" pitchFamily="66" charset="0"/>
              </a:rPr>
              <a:t>④</a:t>
            </a:r>
            <a:endParaRPr lang="zh-CN" altLang="en-US" dirty="0">
              <a:latin typeface="Ink Free" panose="03080402000500000000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9836" y="764704"/>
            <a:ext cx="5184577" cy="596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endParaRPr lang="en-US" altLang="zh-CN" sz="2400" dirty="0"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目标：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发散</a:t>
            </a:r>
            <a:r>
              <a:rPr lang="zh-CN" altLang="en-US" sz="2400" dirty="0">
                <a:cs typeface="+mn-ea"/>
                <a:sym typeface="+mn-lt"/>
              </a:rPr>
              <a:t>出各种原型创意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产出：</a:t>
            </a:r>
            <a:endParaRPr lang="en-US" altLang="zh-CN" sz="2400" b="1" dirty="0"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协作设计一个最直观呈现产品的形式内容功能的原型</a:t>
            </a:r>
            <a:endParaRPr lang="en-US" altLang="zh-CN" sz="2400" dirty="0"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产品原型不要求完成真实技术开发，鼓励同学们运用</a:t>
            </a:r>
            <a:r>
              <a:rPr lang="en-US" altLang="zh-CN" sz="2400" dirty="0">
                <a:cs typeface="+mn-ea"/>
                <a:sym typeface="+mn-lt"/>
              </a:rPr>
              <a:t> AI </a:t>
            </a:r>
            <a:r>
              <a:rPr lang="zh-CN" altLang="en-US" sz="2400" dirty="0">
                <a:cs typeface="+mn-ea"/>
                <a:sym typeface="+mn-lt"/>
              </a:rPr>
              <a:t>及多样化创作工具，通过具有创新性的表达形式展示产品构想，形式不限，重在清晰表达与创意呈现。</a:t>
            </a:r>
            <a:endParaRPr lang="zh-CN" altLang="en-US" sz="2400" dirty="0"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82166" y="1196752"/>
            <a:ext cx="3240000" cy="792088"/>
            <a:chOff x="3557864" y="1844824"/>
            <a:chExt cx="4912813" cy="1008112"/>
          </a:xfrm>
        </p:grpSpPr>
        <p:sp>
          <p:nvSpPr>
            <p:cNvPr id="7" name="矩形 6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557864" y="1844824"/>
              <a:ext cx="4912813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</a:rPr>
                <a:t>六、制作原型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4652" y="343034"/>
            <a:ext cx="3693398" cy="1008112"/>
          </a:xfrm>
          <a:prstGeom prst="rect">
            <a:avLst/>
          </a:prstGeom>
        </p:spPr>
      </p:pic>
      <p:pic>
        <p:nvPicPr>
          <p:cNvPr id="11" name="Picture 2" descr="查看源图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1" b="89844" l="9766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900" y="115274"/>
            <a:ext cx="446314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img_v3_0214n_052b130b-73cc-4d6e-9e7d-5421e28143f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730" y="2421255"/>
            <a:ext cx="5898515" cy="3903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238428" y="1988840"/>
            <a:ext cx="4752528" cy="338437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组成一支梦之队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09836" y="764704"/>
            <a:ext cx="1044116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endParaRPr lang="en-US" altLang="zh-CN" sz="2400" dirty="0"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目标：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收敛</a:t>
            </a:r>
            <a:r>
              <a:rPr lang="zh-CN" altLang="en-US" sz="2400" dirty="0">
                <a:cs typeface="+mn-ea"/>
                <a:sym typeface="+mn-lt"/>
              </a:rPr>
              <a:t>到产品原型最佳选项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cs typeface="+mn-ea"/>
                <a:sym typeface="+mn-lt"/>
              </a:rPr>
              <a:t>产出：</a:t>
            </a:r>
            <a:endParaRPr lang="en-US" altLang="zh-CN" sz="2400" b="1" dirty="0">
              <a:cs typeface="+mn-ea"/>
              <a:sym typeface="+mn-lt"/>
            </a:endParaRPr>
          </a:p>
          <a:p>
            <a:pPr marL="342900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邀请他组成员作为体验用户</a:t>
            </a:r>
            <a:endParaRPr lang="en-US" altLang="zh-CN" sz="2400" dirty="0">
              <a:cs typeface="+mn-ea"/>
              <a:sym typeface="+mn-lt"/>
            </a:endParaRPr>
          </a:p>
          <a:p>
            <a:pPr marL="342900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请用户发声思考，说出体验</a:t>
            </a:r>
            <a:endParaRPr lang="en-US" altLang="zh-CN" sz="2400" dirty="0">
              <a:cs typeface="+mn-ea"/>
              <a:sym typeface="+mn-lt"/>
            </a:endParaRPr>
          </a:p>
          <a:p>
            <a:pPr marL="342900" indent="-342900"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团队不辩解只记录并事后讨论：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zh-CN" altLang="en-US" sz="2400" dirty="0">
                <a:cs typeface="+mn-ea"/>
                <a:sym typeface="+mn-lt"/>
              </a:rPr>
              <a:t>     客户的痛点、原型是否成功、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cs typeface="+mn-ea"/>
                <a:sym typeface="+mn-lt"/>
              </a:rPr>
              <a:t>     </a:t>
            </a:r>
            <a:r>
              <a:rPr lang="zh-CN" altLang="en-US" sz="2400" dirty="0">
                <a:cs typeface="+mn-ea"/>
                <a:sym typeface="+mn-lt"/>
              </a:rPr>
              <a:t>下一步的迭代方向</a:t>
            </a:r>
            <a:endParaRPr lang="en-US" altLang="zh-CN" sz="2400" dirty="0"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86296" y="1196752"/>
            <a:ext cx="3240000" cy="792088"/>
            <a:chOff x="3557864" y="1844824"/>
            <a:chExt cx="4912813" cy="1008112"/>
          </a:xfrm>
        </p:grpSpPr>
        <p:sp>
          <p:nvSpPr>
            <p:cNvPr id="7" name="矩形 6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557864" y="1844824"/>
              <a:ext cx="4912813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</a:rPr>
                <a:t>七、验证原型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3" name="201560131939_.pic.jpg" descr="201560131939_.pic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7388" y="2420888"/>
            <a:ext cx="4408698" cy="24798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652" y="343034"/>
            <a:ext cx="3693398" cy="1008112"/>
          </a:xfrm>
          <a:prstGeom prst="rect">
            <a:avLst/>
          </a:prstGeom>
        </p:spPr>
      </p:pic>
      <p:pic>
        <p:nvPicPr>
          <p:cNvPr id="4" name="Picture 2" descr="查看源图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1" b="89844" l="9766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4908" y="115274"/>
            <a:ext cx="446314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09836" y="2348880"/>
            <a:ext cx="5737158" cy="295232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b="1" dirty="0">
                <a:cs typeface="+mn-ea"/>
                <a:sym typeface="+mn-lt"/>
              </a:rPr>
              <a:t>路演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cs typeface="+mn-ea"/>
                <a:sym typeface="+mn-lt"/>
              </a:rPr>
              <a:t>CEO</a:t>
            </a:r>
            <a:r>
              <a:rPr lang="zh-CN" altLang="en-US" dirty="0">
                <a:cs typeface="+mn-ea"/>
                <a:sym typeface="+mn-lt"/>
              </a:rPr>
              <a:t>带团队做一分钟路演</a:t>
            </a:r>
            <a:endParaRPr lang="en-US" altLang="zh-CN" dirty="0">
              <a:cs typeface="+mn-ea"/>
              <a:sym typeface="+mn-lt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b="1" dirty="0">
                <a:cs typeface="+mn-ea"/>
                <a:sym typeface="+mn-lt"/>
              </a:rPr>
              <a:t>投票</a:t>
            </a:r>
            <a:r>
              <a:rPr lang="zh-CN" altLang="en-US" dirty="0">
                <a:cs typeface="+mn-ea"/>
                <a:sym typeface="+mn-lt"/>
              </a:rPr>
              <a:t>：各组同学在小程序中评论</a:t>
            </a:r>
            <a:endParaRPr lang="en-US" altLang="zh-CN" dirty="0">
              <a:cs typeface="+mn-ea"/>
              <a:sym typeface="+mn-lt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dirty="0">
                <a:cs typeface="+mn-ea"/>
                <a:sym typeface="+mn-lt"/>
              </a:rPr>
              <a:t>每人投</a:t>
            </a:r>
            <a:r>
              <a:rPr lang="en-US" altLang="zh-CN" dirty="0">
                <a:cs typeface="+mn-ea"/>
                <a:sym typeface="+mn-lt"/>
              </a:rPr>
              <a:t>1</a:t>
            </a:r>
            <a:r>
              <a:rPr lang="zh-CN" altLang="en-US" dirty="0">
                <a:cs typeface="+mn-ea"/>
                <a:sym typeface="+mn-lt"/>
              </a:rPr>
              <a:t>票（代表</a:t>
            </a:r>
            <a:r>
              <a:rPr lang="en-US" altLang="zh-CN" dirty="0">
                <a:cs typeface="+mn-ea"/>
                <a:sym typeface="+mn-lt"/>
              </a:rPr>
              <a:t>100</a:t>
            </a:r>
            <a:r>
              <a:rPr lang="zh-CN" altLang="en-US" dirty="0">
                <a:cs typeface="+mn-ea"/>
                <a:sym typeface="+mn-lt"/>
              </a:rPr>
              <a:t>万）</a:t>
            </a:r>
            <a:endParaRPr lang="en-US" altLang="zh-CN" dirty="0">
              <a:cs typeface="+mn-ea"/>
              <a:sym typeface="+mn-lt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zh-CN" dirty="0">
              <a:cs typeface="+mn-ea"/>
              <a:sym typeface="+mn-lt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dirty="0"/>
              <a:t>在喜欢的（非本组）项目右下角，</a:t>
            </a:r>
            <a:endParaRPr lang="en-US" altLang="zh-CN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dirty="0"/>
              <a:t>点击“喜欢” </a:t>
            </a:r>
            <a:r>
              <a:rPr lang="zh-CN" altLang="en-US" dirty="0">
                <a:cs typeface="+mn-ea"/>
                <a:sym typeface="+mn-lt"/>
              </a:rPr>
              <a:t>选出本场最具投资价值项目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r="24488"/>
          <a:stretch>
            <a:fillRect/>
          </a:stretch>
        </p:blipFill>
        <p:spPr>
          <a:xfrm>
            <a:off x="6787674" y="2379464"/>
            <a:ext cx="4937628" cy="31780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24" y="5517232"/>
            <a:ext cx="4937628" cy="699497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4757025" y="5450747"/>
            <a:ext cx="942211" cy="8324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986296" y="1196752"/>
            <a:ext cx="3240000" cy="792088"/>
            <a:chOff x="3557864" y="1844824"/>
            <a:chExt cx="4912813" cy="1008112"/>
          </a:xfrm>
        </p:grpSpPr>
        <p:sp>
          <p:nvSpPr>
            <p:cNvPr id="11" name="矩形 10"/>
            <p:cNvSpPr/>
            <p:nvPr/>
          </p:nvSpPr>
          <p:spPr>
            <a:xfrm>
              <a:off x="3718149" y="1844824"/>
              <a:ext cx="4752528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4000" b="1" dirty="0">
                  <a:solidFill>
                    <a:schemeClr val="bg1"/>
                  </a:solidFill>
                </a:rPr>
                <a:t>   </a:t>
              </a:r>
              <a:endParaRPr lang="en-US" altLang="zh-C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557864" y="1844824"/>
              <a:ext cx="4912813" cy="1008112"/>
            </a:xfrm>
            <a:prstGeom prst="rect">
              <a:avLst/>
            </a:prstGeom>
            <a:solidFill>
              <a:srgbClr val="FFC000"/>
            </a:solidFill>
            <a:ln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</a:rPr>
                <a:t>八、路演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652" y="343034"/>
            <a:ext cx="3693398" cy="1008112"/>
          </a:xfrm>
          <a:prstGeom prst="rect">
            <a:avLst/>
          </a:prstGeom>
        </p:spPr>
      </p:pic>
      <p:pic>
        <p:nvPicPr>
          <p:cNvPr id="14" name="Picture 2" descr="查看源图像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1" b="89844" l="9766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988" y="115274"/>
            <a:ext cx="446314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09836" y="2348880"/>
            <a:ext cx="6701196" cy="2537049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noProof="1">
                <a:cs typeface="+mn-ea"/>
                <a:sym typeface="+mn-lt"/>
              </a:rPr>
              <a:t>组内复盘</a:t>
            </a:r>
            <a:r>
              <a:rPr lang="zh-CN" altLang="en-US" noProof="1">
                <a:cs typeface="+mn-ea"/>
                <a:sym typeface="+mn-lt"/>
              </a:rPr>
              <a:t>：分享体会、总结经验、提升改进</a:t>
            </a:r>
            <a:endParaRPr lang="en-US" altLang="zh-CN" noProof="1">
              <a:cs typeface="+mn-ea"/>
              <a:sym typeface="+mn-lt"/>
            </a:endParaRPr>
          </a:p>
          <a:p>
            <a:pPr marL="0" indent="0">
              <a:buNone/>
            </a:pPr>
            <a:r>
              <a:rPr lang="en-US" altLang="zh-CN" noProof="1">
                <a:cs typeface="+mn-ea"/>
                <a:sym typeface="+mn-lt"/>
              </a:rPr>
              <a:t>	      </a:t>
            </a:r>
            <a:r>
              <a:rPr lang="zh-CN" altLang="en-US" noProof="1">
                <a:cs typeface="+mn-ea"/>
                <a:sym typeface="+mn-lt"/>
              </a:rPr>
              <a:t> 可选用</a:t>
            </a:r>
            <a:r>
              <a:rPr lang="en-US" altLang="zh-CN" noProof="1">
                <a:cs typeface="+mn-ea"/>
                <a:sym typeface="+mn-lt"/>
              </a:rPr>
              <a:t>Good/Bad/Learn</a:t>
            </a:r>
            <a:r>
              <a:rPr lang="zh-CN" altLang="en-US" noProof="1">
                <a:cs typeface="+mn-ea"/>
                <a:sym typeface="+mn-lt"/>
              </a:rPr>
              <a:t>框架</a:t>
            </a:r>
            <a:endParaRPr lang="en-US" altLang="zh-CN" noProof="1">
              <a:cs typeface="+mn-ea"/>
              <a:sym typeface="+mn-lt"/>
            </a:endParaRPr>
          </a:p>
          <a:p>
            <a:pPr marL="0" indent="0">
              <a:buNone/>
            </a:pPr>
            <a:r>
              <a:rPr lang="zh-CN" altLang="en-US" b="1" noProof="1">
                <a:cs typeface="+mn-ea"/>
                <a:sym typeface="+mn-lt"/>
              </a:rPr>
              <a:t>集体复盘</a:t>
            </a:r>
            <a:r>
              <a:rPr lang="zh-CN" altLang="en-US" noProof="1">
                <a:cs typeface="+mn-ea"/>
                <a:sym typeface="+mn-lt"/>
              </a:rPr>
              <a:t>：最后每组上台进行集体复盘</a:t>
            </a:r>
            <a:endParaRPr lang="en-US" altLang="zh-CN" noProof="1"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989" y="2348880"/>
            <a:ext cx="4360188" cy="24554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r="24924"/>
          <a:stretch>
            <a:fillRect/>
          </a:stretch>
        </p:blipFill>
        <p:spPr>
          <a:xfrm>
            <a:off x="986296" y="4149080"/>
            <a:ext cx="6134946" cy="231888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652" y="343034"/>
            <a:ext cx="3693398" cy="1008112"/>
          </a:xfrm>
          <a:prstGeom prst="rect">
            <a:avLst/>
          </a:prstGeom>
        </p:spPr>
      </p:pic>
      <p:pic>
        <p:nvPicPr>
          <p:cNvPr id="10" name="Picture 2" descr="查看源图像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1" b="89844" l="9766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7020" y="115274"/>
            <a:ext cx="446314" cy="4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986295" y="1196752"/>
            <a:ext cx="3240000" cy="792088"/>
          </a:xfrm>
          <a:prstGeom prst="rect">
            <a:avLst/>
          </a:prstGeom>
          <a:solidFill>
            <a:srgbClr val="FFC000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</a:rPr>
              <a:t>九、复盘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如何成为活动官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2414" y="1905000"/>
            <a:ext cx="5940150" cy="469235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kumimoji="1" lang="zh-CN" altLang="en-US" dirty="0"/>
              <a:t>不是活动官，你也可以浏览项目、加入项目、甚至</a:t>
            </a:r>
            <a:r>
              <a:rPr kumimoji="1" lang="zh-CN" altLang="en-US" dirty="0">
                <a:solidFill>
                  <a:srgbClr val="FFC000"/>
                </a:solidFill>
              </a:rPr>
              <a:t>创建项目</a:t>
            </a:r>
            <a:endParaRPr kumimoji="1" lang="en-US" altLang="zh-CN" dirty="0">
              <a:solidFill>
                <a:srgbClr val="FFC000"/>
              </a:solidFill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kumimoji="1" lang="zh-CN" altLang="en-US" dirty="0"/>
              <a:t>但成为活动官之后，你拥有了可以创建火种节活动（搞活动、做课程）的权力</a:t>
            </a:r>
            <a:endParaRPr kumimoji="1" lang="en-US" altLang="zh-CN" dirty="0"/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kumimoji="1" lang="zh-CN" altLang="en-US" dirty="0">
                <a:solidFill>
                  <a:srgbClr val="FFC000"/>
                </a:solidFill>
              </a:rPr>
              <a:t>创建活动</a:t>
            </a:r>
            <a:r>
              <a:rPr kumimoji="1" lang="zh-CN" altLang="en-US" dirty="0"/>
              <a:t>的好处是：可让多个项目在一起进行</a:t>
            </a:r>
            <a:r>
              <a:rPr kumimoji="1" lang="en-US" altLang="zh-CN" dirty="0"/>
              <a:t>PK</a:t>
            </a:r>
            <a:r>
              <a:rPr kumimoji="1" lang="zh-CN" altLang="en-US" dirty="0"/>
              <a:t>并且把导师拉入到活动中来</a:t>
            </a:r>
            <a:endParaRPr kumimoji="1" lang="en-US" altLang="zh-CN" dirty="0"/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kumimoji="1" lang="zh-CN" altLang="en-US" dirty="0"/>
              <a:t>现在就联系校园</a:t>
            </a:r>
            <a:r>
              <a:rPr kumimoji="1" lang="en-US" altLang="zh-CN" dirty="0"/>
              <a:t>VC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xiaoyuanvc.com</a:t>
            </a:r>
            <a:r>
              <a:rPr kumimoji="1" lang="zh-CN" altLang="en-US" dirty="0"/>
              <a:t>）申请成为</a:t>
            </a:r>
            <a:r>
              <a:rPr kumimoji="1" lang="zh-CN" altLang="en-US" dirty="0"/>
              <a:t>活动官吧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4005"/>
          <a:stretch>
            <a:fillRect/>
          </a:stretch>
        </p:blipFill>
        <p:spPr>
          <a:xfrm>
            <a:off x="7606580" y="116632"/>
            <a:ext cx="3857625" cy="6583362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8686700" y="5301208"/>
            <a:ext cx="1296144" cy="726976"/>
          </a:xfrm>
          <a:prstGeom prst="ellipse">
            <a:avLst/>
          </a:prstGeom>
          <a:noFill/>
          <a:ln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105785" y="3269615"/>
            <a:ext cx="5984240" cy="1280160"/>
          </a:xfrm>
          <a:solidFill>
            <a:srgbClr val="FFC000"/>
          </a:solidFill>
        </p:spPr>
        <p:txBody>
          <a:bodyPr rtlCol="0"/>
          <a:lstStyle/>
          <a:p>
            <a:pPr algn="ctr" rtl="0"/>
            <a:r>
              <a:rPr lang="zh-CN" altLang="en-US" sz="72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火  种  节</a:t>
            </a:r>
            <a:endParaRPr lang="zh-CN" altLang="en-US" sz="72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66282" y="4437112"/>
            <a:ext cx="6192688" cy="1008112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98069" y="2348597"/>
            <a:ext cx="6192688" cy="1008112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  <a:cs typeface="+mn-ea"/>
                <a:sym typeface="+mn-lt"/>
              </a:rPr>
              <a:t>小时体验极速创业，点亮心中的火种</a:t>
            </a:r>
            <a:endParaRPr lang="zh-CN" altLang="en-US" sz="28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-1" y="893"/>
            <a:ext cx="12188825" cy="6856214"/>
          </a:xfrm>
          <a:prstGeom prst="rect">
            <a:avLst/>
          </a:prstGeom>
          <a:noFill/>
          <a:ln w="1016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98069" y="4487711"/>
            <a:ext cx="6232072" cy="453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Kick off Your Entrepreneurship in Three Hours!</a:t>
            </a:r>
            <a:endParaRPr lang="zh-CN" altLang="en-US" sz="20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 descr="logo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537" y="1073850"/>
            <a:ext cx="3025135" cy="149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83" y="4959535"/>
            <a:ext cx="11089286" cy="1443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黑板 16 x 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bctzd5il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办公室主题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黑板教育演示文稿（宽屏）</Template>
  <TotalTime>0</TotalTime>
  <Words>2197</Words>
  <Application>WPS 演示</Application>
  <PresentationFormat>自定义</PresentationFormat>
  <Paragraphs>306</Paragraphs>
  <Slides>25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6" baseType="lpstr">
      <vt:lpstr>Arial</vt:lpstr>
      <vt:lpstr>宋体</vt:lpstr>
      <vt:lpstr>Wingdings</vt:lpstr>
      <vt:lpstr>Microsoft YaHei UI</vt:lpstr>
      <vt:lpstr>苹方-简</vt:lpstr>
      <vt:lpstr>Consolas</vt:lpstr>
      <vt:lpstr>微软雅黑</vt:lpstr>
      <vt:lpstr>方正雅意黑 GB18030L2</vt:lpstr>
      <vt:lpstr>楷体</vt:lpstr>
      <vt:lpstr>汉仪楷体KW</vt:lpstr>
      <vt:lpstr>微软雅黑</vt:lpstr>
      <vt:lpstr>宋体</vt:lpstr>
      <vt:lpstr>Arial Unicode MS</vt:lpstr>
      <vt:lpstr>等线</vt:lpstr>
      <vt:lpstr>汉仪中等线KW</vt:lpstr>
      <vt:lpstr>Ink Free</vt:lpstr>
      <vt:lpstr>Microsoft YaHei UI</vt:lpstr>
      <vt:lpstr>楷体</vt:lpstr>
      <vt:lpstr>汉仪书宋二KW</vt:lpstr>
      <vt:lpstr>微软雅黑</vt:lpstr>
      <vt:lpstr>黑板 16 x 9</vt:lpstr>
      <vt:lpstr>火  种  节</vt:lpstr>
      <vt:lpstr>关于火种节</vt:lpstr>
      <vt:lpstr>PowerPoint 演示文稿</vt:lpstr>
      <vt:lpstr>帮你迈出创业第一步 自组织的创业能力训练 建立和激活创业者社群</vt:lpstr>
      <vt:lpstr>尽早发布平庸的产品 三次发散收敛的呼吸 在一起独立工作</vt:lpstr>
      <vt:lpstr>火种节九大环节</vt:lpstr>
      <vt:lpstr>选择定义人生，你是团队中的哪种人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如何成为活动官</vt:lpstr>
      <vt:lpstr>火  种  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小程序使用教程</dc:title>
  <dc:creator>ruizhi wang</dc:creator>
  <cp:lastModifiedBy>殷建松Jason</cp:lastModifiedBy>
  <cp:revision>340</cp:revision>
  <dcterms:created xsi:type="dcterms:W3CDTF">2026-08-31T03:57:12Z</dcterms:created>
  <dcterms:modified xsi:type="dcterms:W3CDTF">2026-08-31T03:57:12Z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60AD007482ED249FCFC17E65A4E0E544_43</vt:lpwstr>
  </property>
</Properties>
</file>